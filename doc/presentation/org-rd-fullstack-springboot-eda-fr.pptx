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notesSlides/notesSlide41.xml" ContentType="application/vnd.openxmlformats-officedocument.presentationml.notesSlide+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notesSlides/notesSlide42.xml" ContentType="application/vnd.openxmlformats-officedocument.presentationml.notesSlide+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notesSlides/notesSlide43.xml" ContentType="application/vnd.openxmlformats-officedocument.presentationml.notesSlide+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8443" autoAdjust="0"/>
  </p:normalViewPr>
  <p:slideViewPr>
    <p:cSldViewPr snapToGrid="0" snapToObjects="1">
      <p:cViewPr varScale="1">
        <p:scale>
          <a:sx n="65" d="100"/>
          <a:sy n="65" d="100"/>
        </p:scale>
        <p:origin x="724" y="60"/>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fr-CA" noProof="0" dirty="0"/>
          </a:p>
          <a:p>
            <a:r>
              <a:rPr lang="fr-CA" noProof="0" dirty="0"/>
              <a:t>Introduire les principes et concepts techniques de la mise en place d’une architecture EDA. </a:t>
            </a:r>
          </a:p>
          <a:p>
            <a:r>
              <a:rPr lang="fr-CA" noProof="0" dirty="0"/>
              <a:t>Cette présentation suit la documentation française du projet. </a:t>
            </a:r>
          </a:p>
          <a:p>
            <a:r>
              <a:rPr lang="fr-CA" noProof="0" dirty="0"/>
              <a:t>Les annexes servent de référence sans interrompre le parcours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dirty="0"/>
              <a:t>Note:</a:t>
            </a:r>
          </a:p>
          <a:p>
            <a:endParaRPr lang="fr-CA" dirty="0"/>
          </a:p>
          <a:p>
            <a:pPr marL="171450" indent="-171450">
              <a:buFont typeface="Arial" panose="020B0604020202020204" pitchFamily="34" charset="0"/>
              <a:buChar char="•"/>
            </a:pPr>
            <a:r>
              <a:rPr lang="fr-CA" dirty="0"/>
              <a:t>Sous-évalue la complexité de l’EDA.</a:t>
            </a:r>
          </a:p>
          <a:p>
            <a:pPr marL="171450" indent="-171450">
              <a:buFont typeface="Arial" panose="020B0604020202020204" pitchFamily="34" charset="0"/>
              <a:buChar char="•"/>
            </a:pPr>
            <a:r>
              <a:rPr lang="fr-CA" dirty="0"/>
              <a:t>On désire s’appuyer sur des partenaires externes (ils n’ont pas l’expertise).</a:t>
            </a:r>
          </a:p>
          <a:p>
            <a:pPr marL="171450" indent="-171450">
              <a:buFont typeface="Arial" panose="020B0604020202020204" pitchFamily="34" charset="0"/>
              <a:buChar char="•"/>
            </a:pPr>
            <a:r>
              <a:rPr lang="fr-CA" dirty="0"/>
              <a:t>Transférer/communiquer/partager l’expertise des ressources qui ont effectués réellement des implémentations résilientes.</a:t>
            </a:r>
          </a:p>
          <a:p>
            <a:endParaRPr lang="en-CA"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Ce plan de présentation est une progression dans un apprentissage en continue. </a:t>
            </a:r>
          </a:p>
          <a:p>
            <a:pPr marL="171450" indent="-171450">
              <a:buFont typeface="Arial" panose="020B0604020202020204" pitchFamily="34" charset="0"/>
              <a:buChar char="•"/>
            </a:pPr>
            <a:r>
              <a:rPr lang="fr-CA" noProof="0" dirty="0"/>
              <a:t>On commence avec l'application et les données. </a:t>
            </a:r>
          </a:p>
          <a:p>
            <a:pPr marL="171450" indent="-171450">
              <a:buFont typeface="Arial" panose="020B0604020202020204" pitchFamily="34" charset="0"/>
              <a:buChar char="•"/>
            </a:pPr>
            <a:r>
              <a:rPr lang="fr-CA" noProof="0" dirty="0"/>
              <a:t>Kafka arrive ensuite pour comprendre où passent les messages. </a:t>
            </a:r>
          </a:p>
          <a:p>
            <a:pPr marL="171450" indent="-171450">
              <a:buFont typeface="Arial" panose="020B0604020202020204" pitchFamily="34" charset="0"/>
              <a:buChar char="•"/>
            </a:pPr>
            <a:r>
              <a:rPr lang="fr-CA" noProof="0" dirty="0"/>
              <a:t>Les défaillances justifient les transactions, l'idempotence et les patrons de persistance. </a:t>
            </a:r>
          </a:p>
          <a:p>
            <a:pPr marL="171450" indent="-171450">
              <a:buFont typeface="Arial" panose="020B0604020202020204" pitchFamily="34" charset="0"/>
              <a:buChar char="•"/>
            </a:pPr>
            <a:r>
              <a:rPr lang="fr-CA" noProof="0" dirty="0"/>
              <a:t>Flink devient un autre modèle d'exécution à comparer. </a:t>
            </a:r>
          </a:p>
          <a:p>
            <a:pPr marL="171450" indent="-171450">
              <a:buFont typeface="Arial" panose="020B0604020202020204" pitchFamily="34" charset="0"/>
              <a:buChar char="•"/>
            </a:pPr>
            <a:r>
              <a:rPr lang="fr-CA" noProof="0" dirty="0"/>
              <a:t>La distribution conduit aux opérations et à l'élasticité. </a:t>
            </a:r>
          </a:p>
          <a:p>
            <a:pPr marL="171450" indent="-171450">
              <a:buFont typeface="Arial" panose="020B0604020202020204" pitchFamily="34" charset="0"/>
              <a:buChar char="•"/>
            </a:pPr>
            <a:r>
              <a:rPr lang="fr-CA" noProof="0" dirty="0"/>
              <a:t>Enfin, l'observabilité, la gouvernance, la corroboration et le choix ETL/SOA/EDA ferment la boucle.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Utiliser l'iceberg fourni dans le guide comme métaphore de la complexité. La partie visible est la publication et la consommation. La partie moins visible comprend l'ordre, les défaillances partielles, les doublons, les transactions, l'exploitation et la vérification des données. </a:t>
            </a:r>
          </a:p>
          <a:p>
            <a:endParaRPr lang="fr-CA" noProof="0" dirty="0"/>
          </a:p>
          <a:p>
            <a:r>
              <a:rPr lang="fr-CA" noProof="0" dirty="0"/>
              <a:t>Ne pas présenter cette image comme une mesure de coût ou de volume. Elle introduit l'idée centrale de la conclusion : la complexité ne disparaît pas, elle se déplace. Question d'ouverture : qu'est-ce qui permet de dire qu'une vente a réellement été appliquée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err="1"/>
              <a:t>Nuxt</a:t>
            </a:r>
            <a:r>
              <a:rPr lang="en-US" dirty="0"/>
              <a:t> fournit l'interface et Spring Boot expose les services BFF tout en servant les ressources statiques. </a:t>
            </a:r>
          </a:p>
          <a:p>
            <a:pPr marL="171450" indent="-171450">
              <a:buFont typeface="Arial" panose="020B0604020202020204" pitchFamily="34" charset="0"/>
              <a:buChar char="•"/>
            </a:pPr>
            <a:r>
              <a:rPr lang="en-US" dirty="0"/>
              <a:t>Kafka, Flink et Hazelcast sont embarqués pour faciliter l'expérimentation; la base est HSQLDB. </a:t>
            </a:r>
          </a:p>
          <a:p>
            <a:pPr marL="171450" indent="-171450">
              <a:buFont typeface="Arial" panose="020B0604020202020204" pitchFamily="34" charset="0"/>
              <a:buChar char="•"/>
            </a:pPr>
            <a:r>
              <a:rPr lang="en-US" dirty="0"/>
              <a:t>La documentation indique explicitement que ce projet est éducatif. </a:t>
            </a:r>
          </a:p>
          <a:p>
            <a:pPr marL="171450" indent="-171450">
              <a:buFont typeface="Arial" panose="020B0604020202020204" pitchFamily="34" charset="0"/>
              <a:buChar char="•"/>
            </a:pPr>
            <a:r>
              <a:rPr lang="en-US" dirty="0" err="1"/>
              <a:t>L'empaquetage</a:t>
            </a:r>
            <a:r>
              <a:rPr lang="en-US" dirty="0"/>
              <a:t> unifié n'est pas une recommandation universelle : il répond ici à un objectif de simplicité locale. </a:t>
            </a:r>
          </a:p>
          <a:p>
            <a:pPr marL="171450" indent="-171450">
              <a:buFont typeface="Arial" panose="020B0604020202020204" pitchFamily="34" charset="0"/>
              <a:buChar char="•"/>
            </a:pPr>
            <a:r>
              <a:rPr lang="en-US" dirty="0"/>
              <a:t>Les composants d'infrastructure devraient généralement devenir des services externes en production. </a:t>
            </a:r>
          </a:p>
          <a:p>
            <a:pPr marL="171450" indent="-171450">
              <a:buFont typeface="Arial" panose="020B0604020202020204" pitchFamily="34" charset="0"/>
              <a:buChar char="•"/>
            </a:pPr>
            <a:r>
              <a:rPr lang="en-US" dirty="0"/>
              <a:t>La séparation sera reprise plus loin.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la terminologie du projet : </a:t>
            </a:r>
          </a:p>
          <a:p>
            <a:pPr marL="171450" indent="-171450">
              <a:buFont typeface="Arial" panose="020B0604020202020204" pitchFamily="34" charset="0"/>
              <a:buChar char="•"/>
            </a:pPr>
            <a:r>
              <a:rPr lang="fr-CA" noProof="0" dirty="0"/>
              <a:t>CREDIT correspond à une vente et retire de l’inventaire; </a:t>
            </a:r>
          </a:p>
          <a:p>
            <a:pPr marL="171450" indent="-171450">
              <a:buFont typeface="Arial" panose="020B0604020202020204" pitchFamily="34" charset="0"/>
              <a:buChar char="•"/>
            </a:pPr>
            <a:r>
              <a:rPr lang="fr-CA" noProof="0" dirty="0"/>
              <a:t>DEBIT ajoute d’inventaire et recrédite le client. </a:t>
            </a:r>
          </a:p>
          <a:p>
            <a:endParaRPr lang="fr-CA" noProof="0" dirty="0"/>
          </a:p>
          <a:p>
            <a:r>
              <a:rPr lang="fr-CA" noProof="0" dirty="0"/>
              <a:t>Le sens peut sembler contre-intuitif (nous prenons la perspective de l’inventaire), d'où la nécessité de le préciser. </a:t>
            </a:r>
          </a:p>
          <a:p>
            <a:r>
              <a:rPr lang="fr-CA" noProof="0" dirty="0"/>
              <a:t>REQUEST est la demande à traiter, PERSON porte le solde, PRODUCT le prix et INVENTORY la quantité disponible. Les résultats PENDING, BACK_ORDER, EXECUTED et ERROR seront réutilisés dans les explications d'idempotence et de corroboration. L'invariant de l’inventaire non négatif est un objectif métier, pas une garantie déjà assurée dans tous les modes du Sandbox. </a:t>
            </a:r>
            <a:r>
              <a:rPr lang="fr-CA" dirty="0"/>
              <a:t>Les options :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Activation des clés,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Latence artificielle,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Rejeu,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Alternative Flink,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CA" dirty="0"/>
              <a:t>Actions de démarrage et réinitialisation.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CA" dirty="0"/>
          </a:p>
          <a:p>
            <a:pPr marL="0" marR="0" lvl="0" indent="0" algn="l" defTabSz="914400" rtl="0" eaLnBrk="1" fontAlgn="auto" latinLnBrk="0" hangingPunct="1">
              <a:lnSpc>
                <a:spcPct val="100000"/>
              </a:lnSpc>
              <a:spcBef>
                <a:spcPts val="0"/>
              </a:spcBef>
              <a:spcAft>
                <a:spcPts val="0"/>
              </a:spcAft>
              <a:buClrTx/>
              <a:buSzTx/>
              <a:buFontTx/>
              <a:buNone/>
              <a:tabLst/>
              <a:defRPr/>
            </a:pPr>
            <a:r>
              <a:rPr lang="fr-CA" dirty="0"/>
              <a:t>Pour comparer deux essais, conserver le même jeu de données et ne changer qu'une variable. Les effets attendus sont ceux décrits dans le guide, pas une nouvelle mesure. Ne pas réinitialiser un lot encore en cours lors de la démonstration. Préparer et vérifier la version utilisée avant le cours.</a:t>
            </a:r>
          </a:p>
          <a:p>
            <a:endParaRPr lang="fr-CA" noProof="0"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Dans l’ordre :</a:t>
            </a:r>
          </a:p>
          <a:p>
            <a:pPr marL="171450" indent="-171450">
              <a:buFont typeface="Arial" panose="020B0604020202020204" pitchFamily="34" charset="0"/>
              <a:buChar char="•"/>
            </a:pPr>
            <a:r>
              <a:rPr lang="fr-CA" noProof="0" dirty="0"/>
              <a:t>L'interface soumet l'action; </a:t>
            </a:r>
          </a:p>
          <a:p>
            <a:pPr marL="171450" indent="-171450">
              <a:buFont typeface="Arial" panose="020B0604020202020204" pitchFamily="34" charset="0"/>
              <a:buChar char="•"/>
            </a:pPr>
            <a:r>
              <a:rPr lang="fr-CA" noProof="0" dirty="0"/>
              <a:t>PipelineSrv publie les requêtes dans le topic du chemin direct; </a:t>
            </a:r>
          </a:p>
          <a:p>
            <a:pPr marL="171450" indent="-171450">
              <a:buFont typeface="Arial" panose="020B0604020202020204" pitchFamily="34" charset="0"/>
              <a:buChar char="•"/>
            </a:pPr>
            <a:r>
              <a:rPr lang="fr-CA" noProof="0" dirty="0"/>
              <a:t>le </a:t>
            </a:r>
            <a:r>
              <a:rPr lang="fr-CA" noProof="0" dirty="0" err="1"/>
              <a:t>listener</a:t>
            </a:r>
            <a:r>
              <a:rPr lang="fr-CA" noProof="0" dirty="0"/>
              <a:t> reçoit chaque enregistrement; </a:t>
            </a:r>
          </a:p>
          <a:p>
            <a:pPr marL="171450" indent="-171450">
              <a:buFont typeface="Arial" panose="020B0604020202020204" pitchFamily="34" charset="0"/>
              <a:buChar char="•"/>
            </a:pPr>
            <a:r>
              <a:rPr lang="fr-CA" noProof="0" dirty="0" err="1"/>
              <a:t>PipelineSrv.handle</a:t>
            </a:r>
            <a:r>
              <a:rPr lang="fr-CA" noProof="0" dirty="0"/>
              <a:t> coordonne puis </a:t>
            </a:r>
            <a:r>
              <a:rPr lang="fr-CA" noProof="0" dirty="0" err="1"/>
              <a:t>ProcessorSrv.process</a:t>
            </a:r>
            <a:r>
              <a:rPr lang="fr-CA" noProof="0" dirty="0"/>
              <a:t> applique le travail métier. </a:t>
            </a:r>
          </a:p>
          <a:p>
            <a:endParaRPr lang="fr-CA" noProof="0" dirty="0"/>
          </a:p>
          <a:p>
            <a:r>
              <a:rPr lang="fr-CA" noProof="0" dirty="0"/>
              <a:t>Le </a:t>
            </a:r>
            <a:r>
              <a:rPr lang="fr-CA" noProof="0" dirty="0" err="1"/>
              <a:t>listener</a:t>
            </a:r>
            <a:r>
              <a:rPr lang="fr-CA" noProof="0" dirty="0"/>
              <a:t> accuse réception après le retour du traitement transactionnel. Les deux modes Kafka et Flink partageront ce cœur métier. Demander aux auditeurs où une panne pourrait se produire : chaque flèche ouvre une question que les prochaines sections vont traiter.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La normalisation des informations à transporter est essentiel.</a:t>
            </a:r>
          </a:p>
          <a:p>
            <a:r>
              <a:rPr lang="fr-CA" noProof="0" dirty="0"/>
              <a:t>Cette activité permet de déterminer :</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dirty="0"/>
              <a:t>Note:</a:t>
            </a:r>
          </a:p>
          <a:p>
            <a:endParaRPr lang="fr-CA" dirty="0"/>
          </a:p>
          <a:p>
            <a:r>
              <a:rPr lang="fr-CA" dirty="0"/>
              <a:t>Présentation des deux extrêmes puis le compromis possible. </a:t>
            </a:r>
          </a:p>
          <a:p>
            <a:pPr marL="171450" indent="-171450">
              <a:buFont typeface="Arial" panose="020B0604020202020204" pitchFamily="34" charset="0"/>
              <a:buChar char="•"/>
            </a:pPr>
            <a:r>
              <a:rPr lang="fr-CA" dirty="0"/>
              <a:t>Un Fat pipe mélange des événements et complique responsabilité, filtrage, schémas et choix de clé. </a:t>
            </a:r>
          </a:p>
          <a:p>
            <a:pPr marL="171450" indent="-171450">
              <a:buFont typeface="Arial" panose="020B0604020202020204" pitchFamily="34" charset="0"/>
              <a:buChar char="•"/>
            </a:pPr>
            <a:r>
              <a:rPr lang="fr-CA" dirty="0"/>
              <a:t>Un Thin pipe spécialisé clarifient les contrats, mais fragmentent les séquences entre topics et augmentent la surface opérationnelle. </a:t>
            </a:r>
          </a:p>
          <a:p>
            <a:pPr marL="171450" indent="-171450">
              <a:buFont typeface="Arial" panose="020B0604020202020204" pitchFamily="34" charset="0"/>
              <a:buChar char="•"/>
            </a:pPr>
            <a:r>
              <a:rPr lang="fr-CA" dirty="0"/>
              <a:t>L'orientation proposée consiste à regrouper les événements d'une même entité ou d'un agrégat quand leur ordre est essentiel, tout en isolant les données lorsque leurs exigences l'imposent. </a:t>
            </a:r>
          </a:p>
          <a:p>
            <a:endParaRPr lang="fr-CA" dirty="0"/>
          </a:p>
          <a:p>
            <a:r>
              <a:rPr lang="fr-CA" dirty="0"/>
              <a:t>Important:</a:t>
            </a:r>
          </a:p>
          <a:p>
            <a:r>
              <a:rPr lang="fr-CA" dirty="0"/>
              <a:t>Les topics du Sandbox sont focalisés sur le traitement des requêtes et leur DLT; le projet ne modélise pas tout un catalogue d'entreprise.
</a:t>
            </a:r>
            <a:r>
              <a:rPr lang="fr-CA" noProof="0" dirty="0"/>
              <a:t>Note:</a:t>
            </a:r>
          </a:p>
          <a:p>
            <a:r>
              <a:rPr lang="fr-CA" noProof="0" dirty="0"/>
              <a:t>L’orientation choisie sert également pour déterminer:</a:t>
            </a:r>
          </a:p>
          <a:p>
            <a:pPr marL="171450" indent="-171450">
              <a:buFont typeface="Arial" panose="020B0604020202020204" pitchFamily="34" charset="0"/>
              <a:buChar char="•"/>
            </a:pPr>
            <a:r>
              <a:rPr lang="fr-CA" noProof="0" dirty="0"/>
              <a:t>la meilleure clé de partition.</a:t>
            </a:r>
          </a:p>
          <a:p>
            <a:pPr marL="171450" indent="-171450">
              <a:buFont typeface="Arial" panose="020B0604020202020204" pitchFamily="34" charset="0"/>
              <a:buChar char="•"/>
            </a:pPr>
            <a:r>
              <a:rPr lang="fr-CA" dirty="0"/>
              <a:t>Le nombre de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topic contient des partitions. Chaque partition est un journal ordonné. L'offset est la position d'un enregistrement dans cette partition; l'offset validé du groupe indique sa reprise. </a:t>
            </a:r>
          </a:p>
          <a:p>
            <a:endParaRPr lang="fr-CA" noProof="0" dirty="0"/>
          </a:p>
          <a:p>
            <a:r>
              <a:rPr lang="fr-CA" noProof="0" dirty="0"/>
              <a:t>Dans un groupe, une partition n'est attribuée qu'à un consommateur actif à la fois. Le dessin simplifie volontairement le nombre de partitions et de consommateurs; il ne représente pas les valeurs de configuration de l'archive. </a:t>
            </a:r>
          </a:p>
          <a:p>
            <a:endParaRPr lang="fr-CA" noProof="0" dirty="0"/>
          </a:p>
          <a:p>
            <a:r>
              <a:rPr lang="fr-CA" noProof="0" dirty="0"/>
              <a:t>Ne pas parler encore de garantie </a:t>
            </a:r>
            <a:r>
              <a:rPr lang="fr-CA" noProof="0" dirty="0" err="1"/>
              <a:t>exactly</a:t>
            </a:r>
            <a:r>
              <a:rPr lang="fr-CA" noProof="0" dirty="0"/>
              <a:t>-once : l'ordre et le suivi de position ne sont pas une garantie sur les effets SQL.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schéma illustre un déséquilibre.</a:t>
            </a:r>
          </a:p>
          <a:p>
            <a:r>
              <a:rPr lang="fr-CA" noProof="0" dirty="0"/>
              <a:t>Une clé très dominante concentre le trafic sur une partition (ou peu de partitions). </a:t>
            </a:r>
          </a:p>
          <a:p>
            <a:endParaRPr lang="fr-CA" noProof="0" dirty="0"/>
          </a:p>
          <a:p>
            <a:r>
              <a:rPr lang="fr-CA" noProof="0" dirty="0"/>
              <a:t>Augmenter le nombre de consommateurs ne divise pas le travail de cette partition. </a:t>
            </a:r>
          </a:p>
          <a:p>
            <a:r>
              <a:rPr lang="fr-CA" noProof="0" dirty="0"/>
              <a:t>Avant de changer le partitionnement, revenir à l'exigence d'ordre par entité. </a:t>
            </a:r>
          </a:p>
          <a:p>
            <a:endParaRPr lang="fr-CA" noProof="0" dirty="0"/>
          </a:p>
          <a:p>
            <a:r>
              <a:rPr lang="fr-CA" noProof="0" dirty="0"/>
              <a:t>La distribution, les verrous, la base SQL et les appels externes doivent être considérés ensemble. </a:t>
            </a:r>
          </a:p>
          <a:p>
            <a:r>
              <a:rPr lang="fr-CA" noProof="0" dirty="0"/>
              <a:t>Plusieurs mitigations sont possibles, mais le support n'en fait pas une recette universelle : le compromis entre ordre et débit doit être explicité.</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Sandbox utilise productId comme clé de partition. </a:t>
            </a:r>
          </a:p>
          <a:p>
            <a:r>
              <a:rPr lang="fr-CA" noProof="0" dirty="0"/>
              <a:t>À nombre de partitions inchangé, les requêtes d'un même produit rejoignent la même partition. </a:t>
            </a:r>
          </a:p>
          <a:p>
            <a:r>
              <a:rPr lang="fr-CA" noProof="0" dirty="0"/>
              <a:t>Dans le chemin direct illustré, elles sont traitées séquentiellement par le consommateur propriétaire de cette partition. </a:t>
            </a:r>
          </a:p>
          <a:p>
            <a:r>
              <a:rPr lang="fr-CA" noProof="0" dirty="0"/>
              <a:t>Sans clé, elles peuvent se retrouver dans plusieurs partitions et s'exécuter en parallèle. Ne pas transformer cette garantie locale en ordre global. </a:t>
            </a:r>
          </a:p>
          <a:p>
            <a:endParaRPr lang="fr-CA" noProof="0" dirty="0"/>
          </a:p>
          <a:p>
            <a:r>
              <a:rPr lang="fr-CA" noProof="0" dirty="0"/>
              <a:t>La documentation  du Sandbox signale également qu'un changement du nombre de partitions remappe les clés et exige une planification. </a:t>
            </a:r>
          </a:p>
          <a:p>
            <a:r>
              <a:rPr lang="fr-CA" noProof="0" dirty="0"/>
              <a:t>La question du choix de clé précède donc celle du nombre de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présente les rapports inclus dans le projet Sandbox. </a:t>
            </a:r>
          </a:p>
          <a:p>
            <a:r>
              <a:rPr lang="fr-CA" noProof="0" dirty="0"/>
              <a:t>Elle ne constitue pas une nouvelle exécution ni une prédiction du chiffre obtenu à chaque essai. </a:t>
            </a:r>
          </a:p>
          <a:p>
            <a:endParaRPr lang="fr-CA" noProof="0" dirty="0"/>
          </a:p>
          <a:p>
            <a:r>
              <a:rPr lang="fr-CA" noProof="0" dirty="0"/>
              <a:t>Avec la clé, le rapport documente des quantités non négatives et des demandes BACK_ORDER lorsque l’</a:t>
            </a:r>
            <a:r>
              <a:rPr lang="fr-CA" noProof="0" dirty="0" err="1"/>
              <a:t>inventire</a:t>
            </a:r>
            <a:r>
              <a:rPr lang="fr-CA" noProof="0" dirty="0"/>
              <a:t> est insuffisant. </a:t>
            </a:r>
          </a:p>
          <a:p>
            <a:r>
              <a:rPr lang="fr-CA" noProof="0" dirty="0"/>
              <a:t>Sans clé, Banana est à -10. </a:t>
            </a:r>
          </a:p>
          <a:p>
            <a:endParaRPr lang="fr-CA" noProof="0" dirty="0"/>
          </a:p>
          <a:p>
            <a:r>
              <a:rPr lang="fr-CA" noProof="0" dirty="0"/>
              <a:t>Question : </a:t>
            </a:r>
          </a:p>
          <a:p>
            <a:r>
              <a:rPr lang="fr-CA" noProof="0" dirty="0"/>
              <a:t>Un tableau de bord indiquant que les messages ont été consommés suffirait-il à détecter cette anomalie métier ? </a:t>
            </a:r>
          </a:p>
          <a:p>
            <a:pPr marL="171450" indent="-171450">
              <a:buFont typeface="Arial" panose="020B0604020202020204" pitchFamily="34" charset="0"/>
              <a:buChar char="•"/>
            </a:pPr>
            <a:r>
              <a:rPr lang="fr-CA" noProof="0" dirty="0"/>
              <a:t>Réponse attendue : non, il faut observer l'état et ses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La course « check-</a:t>
            </a:r>
            <a:r>
              <a:rPr lang="fr-CA" noProof="0" dirty="0" err="1"/>
              <a:t>then</a:t>
            </a:r>
            <a:r>
              <a:rPr lang="fr-CA" noProof="0" dirty="0"/>
              <a:t>-</a:t>
            </a:r>
            <a:r>
              <a:rPr lang="fr-CA" noProof="0" dirty="0" err="1"/>
              <a:t>act</a:t>
            </a:r>
            <a:r>
              <a:rPr lang="fr-CA" noProof="0" dirty="0"/>
              <a:t> » telle qu'elle est documentée : deux requêtes visant la même personne va lire le même solde.</a:t>
            </a:r>
          </a:p>
          <a:p>
            <a:r>
              <a:rPr lang="fr-CA" noProof="0" dirty="0"/>
              <a:t>Lire le solde de la même personne, passent la vérification, puis appliquent chacune l’ajustement du solde. </a:t>
            </a:r>
          </a:p>
          <a:p>
            <a:endParaRPr lang="fr-CA" noProof="0" dirty="0"/>
          </a:p>
          <a:p>
            <a:r>
              <a:rPr lang="fr-CA" noProof="0" dirty="0"/>
              <a:t>Le verrou en mémoire « Datagrid » par personne est la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en-CA" dirty="0"/>
          </a:p>
          <a:p>
            <a:r>
              <a:rPr lang="fr-CA" noProof="0" dirty="0"/>
              <a:t>L’approche traditionnelle « SQL » n’est pas la bonne : verrouillage pessimiste, verrouillage optimiste ou UPDATE conditionnel (where clause).</a:t>
            </a:r>
          </a:p>
          <a:p>
            <a:pPr marL="171450" indent="-171450">
              <a:buFont typeface="Arial" panose="020B0604020202020204" pitchFamily="34" charset="0"/>
              <a:buChar char="•"/>
            </a:pPr>
            <a:r>
              <a:rPr lang="fr-CA" noProof="0" dirty="0"/>
              <a:t>Brise l’élasticité horizontale.</a:t>
            </a:r>
          </a:p>
          <a:p>
            <a:pPr marL="171450" indent="-171450">
              <a:buFont typeface="Arial" panose="020B0604020202020204" pitchFamily="34" charset="0"/>
              <a:buChar char="•"/>
            </a:pPr>
            <a:r>
              <a:rPr lang="fr-CA" noProof="0" dirty="0"/>
              <a:t>Génère du DLT.</a:t>
            </a:r>
          </a:p>
          <a:p>
            <a:pPr marL="171450" indent="-171450">
              <a:buFont typeface="Arial" panose="020B0604020202020204" pitchFamily="34" charset="0"/>
              <a:buChar char="•"/>
            </a:pPr>
            <a:r>
              <a:rPr lang="fr-CA" noProof="0" dirty="0"/>
              <a:t>Consomme des ressources Cause des tempêtes de rebalance.</a:t>
            </a:r>
          </a:p>
          <a:p>
            <a:endParaRPr lang="en-CA"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y a trois garantis possibles:</a:t>
            </a:r>
          </a:p>
          <a:p>
            <a:pPr marL="171450" indent="-171450">
              <a:buFont typeface="Arial" panose="020B0604020202020204" pitchFamily="34" charset="0"/>
              <a:buChar char="•"/>
            </a:pPr>
            <a:r>
              <a:rPr lang="fr-CA" noProof="0" dirty="0"/>
              <a:t>At-</a:t>
            </a:r>
            <a:r>
              <a:rPr lang="fr-CA" noProof="0" dirty="0" err="1"/>
              <a:t>most</a:t>
            </a:r>
            <a:r>
              <a:rPr lang="fr-CA" noProof="0" dirty="0"/>
              <a:t>-once accepte une perte possible lorsque la position est validée avant le travail. </a:t>
            </a:r>
          </a:p>
          <a:p>
            <a:pPr marL="171450" indent="-171450">
              <a:buFont typeface="Arial" panose="020B0604020202020204" pitchFamily="34" charset="0"/>
              <a:buChar char="•"/>
            </a:pPr>
            <a:r>
              <a:rPr lang="fr-CA" noProof="0" dirty="0"/>
              <a:t>At-least-once accepte la </a:t>
            </a:r>
            <a:r>
              <a:rPr lang="fr-CA" noProof="0" dirty="0" err="1"/>
              <a:t>redélivrance</a:t>
            </a:r>
            <a:r>
              <a:rPr lang="fr-CA" noProof="0" dirty="0"/>
              <a:t> lorsque le travail est validé avant l'offset. </a:t>
            </a:r>
          </a:p>
          <a:p>
            <a:pPr marL="171450" indent="-171450">
              <a:buFont typeface="Arial" panose="020B0604020202020204" pitchFamily="34" charset="0"/>
              <a:buChar char="•"/>
            </a:pPr>
            <a:r>
              <a:rPr lang="fr-CA" noProof="0" dirty="0"/>
              <a:t>L'EOS Kafka rend atomiques les résultats Kafka et les offsets sources dans une boucle lecture-traitement-écriture, mais n'englobe pas automatiquement la base SQL ou un appel distant. </a:t>
            </a:r>
          </a:p>
          <a:p>
            <a:endParaRPr lang="fr-CA" noProof="0" dirty="0"/>
          </a:p>
          <a:p>
            <a:r>
              <a:rPr lang="fr-CA" noProof="0" dirty="0"/>
              <a:t>Le choix du projet Sandbox: at-least-once plus traitement idempotent. La durabilité de la publication dépend aussi de la configuration du producteur et de la réplication; aucune formulation ne doit devenir une promesse absolue d'absence de perte.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Quelques faits:</a:t>
            </a:r>
          </a:p>
          <a:p>
            <a:pPr marL="171450" indent="-171450">
              <a:buFont typeface="Arial" panose="020B0604020202020204" pitchFamily="34" charset="0"/>
              <a:buChar char="•"/>
            </a:pPr>
            <a:r>
              <a:rPr lang="fr-CA" noProof="0" dirty="0"/>
              <a:t>L'idempotence du producteur protège contre les doublons de ses nouvelles tentatives, pas contre deux publications applicatives du même fait. </a:t>
            </a:r>
          </a:p>
          <a:p>
            <a:pPr marL="171450" indent="-171450">
              <a:buFont typeface="Arial" panose="020B0604020202020204" pitchFamily="34" charset="0"/>
              <a:buChar char="•"/>
            </a:pPr>
            <a:r>
              <a:rPr lang="fr-CA" noProof="0" dirty="0"/>
              <a:t>La transaction Kafka définit un ensemble de publications validé ou annulé. </a:t>
            </a:r>
          </a:p>
          <a:p>
            <a:pPr marL="171450" indent="-171450">
              <a:buFont typeface="Arial" panose="020B0604020202020204" pitchFamily="34" charset="0"/>
              <a:buChar char="•"/>
            </a:pPr>
            <a:r>
              <a:rPr lang="fr-CA" noProof="0" dirty="0"/>
              <a:t>Le </a:t>
            </a:r>
            <a:r>
              <a:rPr lang="fr-CA" noProof="0" dirty="0" err="1"/>
              <a:t>read_committed</a:t>
            </a:r>
            <a:r>
              <a:rPr lang="fr-CA" noProof="0" dirty="0"/>
              <a:t> empêche le consommateur de restituer les messages de transactions annulées et attend leur issue. </a:t>
            </a:r>
          </a:p>
          <a:p>
            <a:endParaRPr lang="fr-CA" noProof="0" dirty="0"/>
          </a:p>
          <a:p>
            <a:r>
              <a:rPr lang="fr-CA" noProof="0" dirty="0"/>
              <a:t>Le guide documente cette combinaison pour le chemin direct. Il ne faut pas en déduire un commit SQL ni présumer que tous les clients Kafka construits séparément héritent de la même configuration. </a:t>
            </a:r>
          </a:p>
          <a:p>
            <a:r>
              <a:rPr lang="fr-CA" noProof="0" dirty="0"/>
              <a:t>Chaque source/consommateur doit être examiné dans son propre périmètre.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Ne pas confondre flush, retour de méthode et commit !!!</a:t>
            </a:r>
          </a:p>
          <a:p>
            <a:r>
              <a:rPr lang="fr-CA" noProof="0" dirty="0"/>
              <a:t>Le traitement est appelé via son proxy transactionnel; le </a:t>
            </a:r>
            <a:r>
              <a:rPr lang="fr-CA" noProof="0" dirty="0" err="1"/>
              <a:t>listener</a:t>
            </a:r>
            <a:r>
              <a:rPr lang="fr-CA" noProof="0" dirty="0"/>
              <a:t> acquitte après le retour de ce traitement. </a:t>
            </a:r>
          </a:p>
          <a:p>
            <a:r>
              <a:rPr lang="fr-CA" noProof="0" dirty="0"/>
              <a:t>Si le commit SQL a réussi mais que le processus s'arrête avant l'acquittement, le message va revenir. </a:t>
            </a:r>
          </a:p>
          <a:p>
            <a:endParaRPr lang="fr-CA" noProof="0" dirty="0"/>
          </a:p>
          <a:p>
            <a:r>
              <a:rPr lang="fr-CA" noProof="0" dirty="0"/>
              <a:t>Un acquittement placé avant un commit SQL finalement annulé pourrait au contraire perdre l'effet attendu. </a:t>
            </a:r>
          </a:p>
          <a:p>
            <a:r>
              <a:rPr lang="fr-CA" noProof="0" dirty="0"/>
              <a:t>Le callback </a:t>
            </a:r>
            <a:r>
              <a:rPr lang="fr-CA" noProof="0" dirty="0" err="1"/>
              <a:t>afterCommit</a:t>
            </a:r>
            <a:r>
              <a:rPr lang="fr-CA" noProof="0" dirty="0"/>
              <a:t> rend l'ordre explicite, mais ne supprime pas la fenêtre de panne. </a:t>
            </a:r>
          </a:p>
          <a:p>
            <a:endParaRPr lang="fr-CA" noProof="0" dirty="0"/>
          </a:p>
          <a:p>
            <a:r>
              <a:rPr lang="fr-CA" noProof="0" dirty="0"/>
              <a:t>Question : </a:t>
            </a:r>
          </a:p>
          <a:p>
            <a:pPr marL="171450" indent="-171450">
              <a:buFont typeface="Arial" panose="020B0604020202020204" pitchFamily="34" charset="0"/>
              <a:buChar char="•"/>
            </a:pPr>
            <a:r>
              <a:rPr lang="fr-CA" noProof="0" dirty="0"/>
              <a:t>Faut-il empêcher toute relivraison, ou rendre ses effets sans danger ? Réponse : concevoir le traitement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résultat métier indique si la requête est encore PENDING ou BACK_ORDER, ou déjà réglée. </a:t>
            </a:r>
          </a:p>
          <a:p>
            <a:r>
              <a:rPr lang="fr-CA" noProof="0" dirty="0"/>
              <a:t>Lorsqu'un en-tête est présent, le journal est recherché sur la clé composite CONSUMER_ID, EVENT_ID. </a:t>
            </a:r>
          </a:p>
          <a:p>
            <a:endParaRPr lang="fr-CA" noProof="0" dirty="0"/>
          </a:p>
          <a:p>
            <a:r>
              <a:rPr lang="fr-CA" noProof="0" dirty="0"/>
              <a:t>L'insertion ou la mise à jour de ce marqueur et les effets métier appartiennent à la même transaction SQL. </a:t>
            </a:r>
          </a:p>
          <a:p>
            <a:endParaRPr lang="fr-CA" noProof="0" dirty="0"/>
          </a:p>
          <a:p>
            <a:r>
              <a:rPr lang="fr-CA" noProof="0" dirty="0"/>
              <a:t>Une contrainte d'unicité reste l'autorité de déduplication face à la concurrence. </a:t>
            </a:r>
          </a:p>
          <a:p>
            <a:r>
              <a:rPr lang="fr-CA" noProof="0" dirty="0"/>
              <a:t>Il ne constitue pas le commit. Garder distincts l'identité, le type de traitement et son résultat.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DLT signifie Dead Letter Topic : </a:t>
            </a:r>
          </a:p>
          <a:p>
            <a:pPr marL="171450" indent="-171450">
              <a:buFont typeface="Arial" panose="020B0604020202020204" pitchFamily="34" charset="0"/>
              <a:buChar char="•"/>
            </a:pPr>
            <a:r>
              <a:rPr lang="fr-CA" noProof="0" dirty="0"/>
              <a:t>Un topic dédié aux échecs qui demandent une analyse. </a:t>
            </a:r>
          </a:p>
          <a:p>
            <a:pPr marL="171450" indent="-171450">
              <a:buFont typeface="Arial" panose="020B0604020202020204" pitchFamily="34" charset="0"/>
              <a:buChar char="•"/>
            </a:pPr>
            <a:r>
              <a:rPr lang="fr-CA" noProof="0" dirty="0"/>
              <a:t>Une nouvelle tentative traite à nouveau un échec, selon une politique bornée. </a:t>
            </a:r>
          </a:p>
          <a:p>
            <a:pPr marL="171450" indent="-171450">
              <a:buFont typeface="Arial" panose="020B0604020202020204" pitchFamily="34" charset="0"/>
              <a:buChar char="•"/>
            </a:pPr>
            <a:r>
              <a:rPr lang="fr-CA" noProof="0" dirty="0"/>
              <a:t>Une relivraison peut survenir après une panne et une reprise d'offset. </a:t>
            </a:r>
          </a:p>
          <a:p>
            <a:pPr marL="171450" indent="-171450">
              <a:buFont typeface="Arial" panose="020B0604020202020204" pitchFamily="34" charset="0"/>
              <a:buChar char="•"/>
            </a:pPr>
            <a:r>
              <a:rPr lang="fr-CA" noProof="0" dirty="0"/>
              <a:t>Un rejeu est une décision de retraitement et doit respecter les règles métier et l'idempotence. </a:t>
            </a:r>
          </a:p>
          <a:p>
            <a:pPr marL="171450" indent="-171450">
              <a:buFont typeface="Arial" panose="020B0604020202020204" pitchFamily="34" charset="0"/>
              <a:buChar char="•"/>
            </a:pPr>
            <a:r>
              <a:rPr lang="fr-CA" noProof="0" dirty="0"/>
              <a:t>Les chemins Kafka et Flink possèdent des DLT. </a:t>
            </a:r>
          </a:p>
          <a:p>
            <a:endParaRPr lang="fr-CA" noProof="0" dirty="0"/>
          </a:p>
          <a:p>
            <a:r>
              <a:rPr lang="fr-CA" noProof="0" dirty="0"/>
              <a:t>L'échec durable doit conserver suffisamment de contexte pour l'analyse. </a:t>
            </a:r>
          </a:p>
          <a:p>
            <a:r>
              <a:rPr lang="fr-CA" noProof="0" dirty="0"/>
              <a:t>Ne pas transformer DLT en oubli des erreurs : </a:t>
            </a:r>
          </a:p>
          <a:p>
            <a:pPr marL="171450" indent="-171450">
              <a:buFont typeface="Arial" panose="020B0604020202020204" pitchFamily="34" charset="0"/>
              <a:buChar char="•"/>
            </a:pPr>
            <a:r>
              <a:rPr lang="fr-CA" noProof="0" dirty="0"/>
              <a:t>La gouvernance et l'exploitation doivent définir qui analyse, corrige et relance. </a:t>
            </a:r>
          </a:p>
          <a:p>
            <a:pPr marL="171450" indent="-171450">
              <a:buFont typeface="Arial" panose="020B0604020202020204" pitchFamily="34" charset="0"/>
              <a:buChar char="•"/>
            </a:pPr>
            <a:r>
              <a:rPr lang="fr-CA" noProof="0" dirty="0"/>
              <a:t>Ne pas donner ici une garantie universelle sur les exceptions non </a:t>
            </a:r>
            <a:r>
              <a:rPr lang="fr-CA" noProof="0" dirty="0" err="1"/>
              <a:t>réessayables</a:t>
            </a:r>
            <a:r>
              <a:rPr lang="fr-CA" noProof="0" dirty="0"/>
              <a:t>, dont la classification doit être vérifiée dans la version utilisée.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mode direct utilise APP-Kafka-</a:t>
            </a:r>
            <a:r>
              <a:rPr lang="fr-CA" noProof="0" dirty="0" err="1"/>
              <a:t>Requests</a:t>
            </a:r>
            <a:r>
              <a:rPr lang="fr-CA" noProof="0" dirty="0"/>
              <a:t> puis </a:t>
            </a:r>
            <a:r>
              <a:rPr lang="fr-CA" noProof="0" dirty="0" err="1"/>
              <a:t>KafkaPipelineListener</a:t>
            </a:r>
            <a:r>
              <a:rPr lang="fr-CA" noProof="0" dirty="0"/>
              <a:t>. Le mode Flink utilise APP-Flink-</a:t>
            </a:r>
            <a:r>
              <a:rPr lang="fr-CA" noProof="0" dirty="0" err="1"/>
              <a:t>requests</a:t>
            </a:r>
            <a:r>
              <a:rPr lang="fr-CA" noProof="0" dirty="0"/>
              <a:t>, un job Flink et ProcessorSink. </a:t>
            </a:r>
          </a:p>
          <a:p>
            <a:r>
              <a:rPr lang="fr-CA" noProof="0" dirty="0"/>
              <a:t>Les deux délèguent ensuite au cœur </a:t>
            </a:r>
            <a:r>
              <a:rPr lang="fr-CA" noProof="0" dirty="0" err="1"/>
              <a:t>PipelineSrv.handle</a:t>
            </a:r>
            <a:r>
              <a:rPr lang="fr-CA" noProof="0" dirty="0"/>
              <a:t> et au processeur transactionnel. </a:t>
            </a:r>
          </a:p>
          <a:p>
            <a:endParaRPr lang="fr-CA" noProof="0" dirty="0"/>
          </a:p>
          <a:p>
            <a:r>
              <a:rPr lang="fr-CA" noProof="0" dirty="0"/>
              <a:t>La documentation décrit le job du sandbox comme une source et un </a:t>
            </a:r>
            <a:r>
              <a:rPr lang="fr-CA" noProof="0" dirty="0" err="1"/>
              <a:t>sink</a:t>
            </a:r>
            <a:r>
              <a:rPr lang="fr-CA" noProof="0" dirty="0"/>
              <a:t>, sans transformation intermédiaire. Cette simplicité permet de comparer le modèle de progression et de reprise.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Un checkpoint conserve un point de reprise, notamment les offsets de la source dans son état. </a:t>
            </a:r>
          </a:p>
          <a:p>
            <a:r>
              <a:rPr lang="fr-CA" noProof="0" dirty="0"/>
              <a:t>Le point essentiel est la frontière de reprise : </a:t>
            </a:r>
          </a:p>
          <a:p>
            <a:pPr marL="171450" indent="-171450">
              <a:buFont typeface="Arial" panose="020B0604020202020204" pitchFamily="34" charset="0"/>
              <a:buChar char="•"/>
            </a:pPr>
            <a:r>
              <a:rPr lang="fr-CA" noProof="0" dirty="0"/>
              <a:t>Le dernier checkpoint terminé. </a:t>
            </a:r>
          </a:p>
          <a:p>
            <a:pPr marL="171450" indent="-171450">
              <a:buFont typeface="Arial" panose="020B0604020202020204" pitchFamily="34" charset="0"/>
              <a:buChar char="•"/>
            </a:pPr>
            <a:r>
              <a:rPr lang="fr-CA" noProof="0" dirty="0"/>
              <a:t>Les </a:t>
            </a:r>
            <a:r>
              <a:rPr lang="fr-CA" noProof="0" dirty="0" err="1"/>
              <a:t>commits</a:t>
            </a:r>
            <a:r>
              <a:rPr lang="fr-CA" noProof="0" dirty="0"/>
              <a:t> SQL du </a:t>
            </a:r>
            <a:r>
              <a:rPr lang="fr-CA" noProof="0" dirty="0" err="1"/>
              <a:t>sink</a:t>
            </a:r>
            <a:r>
              <a:rPr lang="fr-CA" noProof="0" dirty="0"/>
              <a:t> ont lieu par enregistrement, indépendamment de cette frontière. </a:t>
            </a:r>
          </a:p>
          <a:p>
            <a:endParaRPr lang="fr-CA" noProof="0" dirty="0"/>
          </a:p>
          <a:p>
            <a:r>
              <a:rPr lang="fr-CA" noProof="0" dirty="0"/>
              <a:t>Après une panne, certains effets SQL déjà validés peuvent donc être sollicités de nouveau. L'idempotence protège l'état métier; elle ne rend pas automatiquement idempotents tous les compteurs. Le guide signale explicitement cette limite pour les statistiques de complétion.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pont entre le </a:t>
            </a:r>
            <a:r>
              <a:rPr lang="fr-CA" noProof="0" dirty="0" err="1"/>
              <a:t>sink</a:t>
            </a:r>
            <a:r>
              <a:rPr lang="fr-CA" noProof="0" dirty="0"/>
              <a:t> et le service Spring comme un raccourci pédagogique valable dans la JVM du MiniCluster. </a:t>
            </a:r>
          </a:p>
          <a:p>
            <a:r>
              <a:rPr lang="fr-CA" noProof="0" dirty="0"/>
              <a:t>Il ne peut pas être transporté tel quel vers des </a:t>
            </a:r>
            <a:r>
              <a:rPr lang="fr-CA" noProof="0" dirty="0" err="1"/>
              <a:t>TaskManagers</a:t>
            </a:r>
            <a:r>
              <a:rPr lang="fr-CA" noProof="0" dirty="0"/>
              <a:t> distants. </a:t>
            </a:r>
          </a:p>
          <a:p>
            <a:endParaRPr lang="fr-CA" noProof="0" dirty="0"/>
          </a:p>
          <a:p>
            <a:r>
              <a:rPr lang="fr-CA" noProof="0" dirty="0"/>
              <a:t>Les options documentées comprennent la sortie vers Kafka puis un consommateur Spring, un </a:t>
            </a:r>
            <a:r>
              <a:rPr lang="fr-CA" noProof="0" dirty="0" err="1"/>
              <a:t>sink</a:t>
            </a:r>
            <a:r>
              <a:rPr lang="fr-CA" noProof="0" dirty="0"/>
              <a:t> natif pris en charge ou un appel de service. </a:t>
            </a:r>
          </a:p>
          <a:p>
            <a:r>
              <a:rPr lang="fr-CA" noProof="0" dirty="0"/>
              <a:t>Autre limite documentée du chemin value-</a:t>
            </a:r>
            <a:r>
              <a:rPr lang="fr-CA" noProof="0" dirty="0" err="1"/>
              <a:t>only</a:t>
            </a:r>
            <a:r>
              <a:rPr lang="fr-CA" noProof="0" dirty="0"/>
              <a:t> : la clé et les en-têtes Kafka ne traversent pas tels quels le saut Flink. </a:t>
            </a:r>
          </a:p>
          <a:p>
            <a:endParaRPr lang="fr-CA" noProof="0" dirty="0"/>
          </a:p>
          <a:p>
            <a:r>
              <a:rPr lang="fr-CA" noProof="0" dirty="0"/>
              <a:t>Ces différences doivent rester visibles dans la comparaison.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pod, le thread consommateur et la partition. </a:t>
            </a:r>
          </a:p>
          <a:p>
            <a:r>
              <a:rPr lang="en-US" dirty="0"/>
              <a:t>Le parallélisme utile est le minimum entre partitions et pods multipliés par threads par pod. </a:t>
            </a:r>
          </a:p>
          <a:p>
            <a:endParaRPr lang="en-US" dirty="0"/>
          </a:p>
          <a:p>
            <a:r>
              <a:rPr lang="en-US" dirty="0"/>
              <a:t>Le tableau est un exemple de dimensionnement à </a:t>
            </a:r>
            <a:r>
              <a:rPr lang="en-US" dirty="0" err="1"/>
              <a:t>huit</a:t>
            </a:r>
            <a:r>
              <a:rPr lang="en-US" dirty="0"/>
              <a:t> partitions.</a:t>
            </a:r>
          </a:p>
          <a:p>
            <a:r>
              <a:rPr lang="en-US" dirty="0"/>
              <a:t>Il ne certifie pas les valeurs effectives de configuration de toutes les versions du projet. </a:t>
            </a:r>
          </a:p>
          <a:p>
            <a:endParaRPr lang="en-US" dirty="0"/>
          </a:p>
          <a:p>
            <a:r>
              <a:rPr lang="en-US" dirty="0"/>
              <a:t>Demander combien de threads sont utiles avec cinq pods et deux threads chacun : </a:t>
            </a:r>
          </a:p>
          <a:p>
            <a:pPr marL="171450" indent="-171450">
              <a:buFont typeface="Arial" panose="020B0604020202020204" pitchFamily="34" charset="0"/>
              <a:buChar char="•"/>
            </a:pPr>
            <a:r>
              <a:rPr lang="en-US" dirty="0"/>
              <a:t>Huit sur dix au maximum.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CA" dirty="0"/>
              <a:t>Note:</a:t>
            </a:r>
          </a:p>
          <a:p>
            <a:endParaRPr lang="fr-CA" dirty="0"/>
          </a:p>
          <a:p>
            <a:r>
              <a:rPr lang="fr-CA" dirty="0"/>
              <a:t>Les deux concepts sont liés, mais différents. Dans une architecture EDA — particulièrement avec Kafka — le lag peut être un indicateur indirect de latence, mais ce n’est pas la latence elle-même.</a:t>
            </a:r>
          </a:p>
          <a:p>
            <a:endParaRPr lang="fr-CA" dirty="0"/>
          </a:p>
          <a:p>
            <a:r>
              <a:rPr lang="fr-CA" dirty="0"/>
              <a:t>Lag</a:t>
            </a:r>
          </a:p>
          <a:p>
            <a:endParaRPr lang="fr-CA" dirty="0"/>
          </a:p>
          <a:p>
            <a:r>
              <a:rPr lang="fr-CA" dirty="0"/>
              <a:t>Le lag du consommateur mesure généralement un écart de position.</a:t>
            </a:r>
          </a:p>
          <a:p>
            <a:r>
              <a:rPr lang="fr-CA" dirty="0"/>
              <a:t>Kafka contient des messages jusqu’à l’offset `10 000`, tandis que le consommateur est rendu à `9 500` → lag = 500 messages.</a:t>
            </a:r>
          </a:p>
          <a:p>
            <a:r>
              <a:rPr lang="fr-CA" dirty="0"/>
              <a:t>Le lag répond à la question : combien de messages le consommateur a-t-il en retard ?</a:t>
            </a:r>
          </a:p>
          <a:p>
            <a:endParaRPr lang="fr-CA" dirty="0"/>
          </a:p>
          <a:p>
            <a:r>
              <a:rPr lang="fr-CA" dirty="0"/>
              <a:t>Latence</a:t>
            </a:r>
          </a:p>
          <a:p>
            <a:endParaRPr lang="fr-CA" dirty="0"/>
          </a:p>
          <a:p>
            <a:r>
              <a:rPr lang="fr-CA" dirty="0"/>
              <a:t>La latence mesure une durée.</a:t>
            </a:r>
          </a:p>
          <a:p>
            <a:r>
              <a:rPr lang="fr-CA" dirty="0"/>
              <a:t>Combien de temps faut-il pour qu’un événement soit traité de bout en bout ?</a:t>
            </a:r>
          </a:p>
          <a:p>
            <a:endParaRPr lang="fr-CA" dirty="0"/>
          </a:p>
          <a:p>
            <a:r>
              <a:rPr lang="fr-CA" dirty="0"/>
              <a:t>La relation entre les deux</a:t>
            </a:r>
          </a:p>
          <a:p>
            <a:endParaRPr lang="fr-CA" dirty="0"/>
          </a:p>
          <a:p>
            <a:r>
              <a:rPr lang="fr-CA" dirty="0"/>
              <a:t>Un lag élevé peut provoquer une latence élevée, mais la relation n’est pas directe :</a:t>
            </a:r>
          </a:p>
          <a:p>
            <a:r>
              <a:rPr lang="fr-CA" dirty="0"/>
              <a:t>Inversement, un consommateur peut avoir un lag de seulement 1 message, mais une latence élevée si le traitement de ce message prend 30 secondes.</a:t>
            </a:r>
          </a:p>
          <a:p>
            <a:endParaRPr lang="fr-CA" dirty="0"/>
          </a:p>
          <a:p>
            <a:r>
              <a:rPr lang="fr-CA" dirty="0"/>
              <a:t>Le lag n’est pas une mesure de latence au sens strict. Il mesure l’arriéré de traitement d’un consommateur. Toutefois, son augmentation constitue souvent un indicateur de dégradation de la capacité de traitement et peut entraîner une augmentation de la latence de bout en bout.</a:t>
            </a:r>
          </a:p>
          <a:p>
            <a:endParaRPr lang="fr-CA" dirty="0"/>
          </a:p>
          <a:p>
            <a:r>
              <a:rPr lang="fr-CA" dirty="0"/>
              <a:t>Pour l’observabilité en EDA, lag et latence sont complémentaires : le lag indique l’accumulation du retard, tandis que la latence indique l’impact temporel réel sur les événements.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rééquilibrage redistribue les partitions quand la composition du groupe change. Il peut créer une interruption et une relivraison d'enregistrements non acquittés; son impact dépend du protocole et de la stratégie. Le réglage des lots et des timeouts doit refléter la durée du travail. Les mécanismes coopératifs, l'identité stable et la stabilisation du </a:t>
            </a:r>
            <a:r>
              <a:rPr lang="fr-CA" noProof="0" dirty="0" err="1"/>
              <a:t>scaling</a:t>
            </a:r>
            <a:r>
              <a:rPr lang="fr-CA" noProof="0" dirty="0"/>
              <a:t> réduisent certains mouvements, sans supprimer le besoin d'idempotence. Ne pas annoncer une durée universelle de rééquilibrage.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b="1" noProof="0" dirty="0"/>
              <a:t>Élasticité horizontale</a:t>
            </a:r>
          </a:p>
          <a:p>
            <a:pPr rtl="0"/>
            <a:r>
              <a:rPr lang="fr-CA" dirty="0"/>
              <a:t>Le piège avec une architecture EDA/Kafka : </a:t>
            </a:r>
            <a:r>
              <a:rPr lang="fr-CA" b="1" dirty="0"/>
              <a:t>le CPU n'est pas un bon signal de charge pour un consommateur Kafka</a:t>
            </a:r>
            <a:r>
              <a:rPr lang="fr-CA" dirty="0"/>
              <a:t>. Un consommateur peut accumuler un lag énorme (retard de traitement) tout en ayant un CPU bas, parce qu'il passe son temps à attendre le broker, un verrou distribué, ou un commit DB — de l'I/O, pas du calcul. Résultat : HPA/CPU ne </a:t>
            </a:r>
            <a:r>
              <a:rPr lang="fr-CA" dirty="0" err="1"/>
              <a:t>scale</a:t>
            </a:r>
            <a:r>
              <a:rPr lang="fr-CA" dirty="0"/>
              <a:t> pas au bon moment, et peut même </a:t>
            </a:r>
            <a:r>
              <a:rPr lang="fr-CA" dirty="0" err="1"/>
              <a:t>scaler</a:t>
            </a:r>
            <a:r>
              <a:rPr lang="fr-CA" dirty="0"/>
              <a:t> pour de mauvaises raisons (rebalances inutiles, pods qui restent inactifs au-delà du nombre de partitions puisqu'il ne peut y avoir qu'un consommateur actif par partition dans un groupe).</a:t>
            </a:r>
          </a:p>
          <a:p>
            <a:pPr rtl="0"/>
            <a:endParaRPr lang="fr-CA" dirty="0"/>
          </a:p>
          <a:p>
            <a:pPr rtl="0"/>
            <a:r>
              <a:rPr lang="fr-CA" dirty="0"/>
              <a:t>C'est là qu'intervient </a:t>
            </a:r>
            <a:r>
              <a:rPr lang="fr-CA" b="1" dirty="0"/>
              <a:t>KEDA</a:t>
            </a:r>
            <a:r>
              <a:rPr lang="fr-CA" dirty="0"/>
              <a:t> : il ajoute un </a:t>
            </a:r>
            <a:r>
              <a:rPr lang="fr-CA" dirty="0" err="1"/>
              <a:t>scaler</a:t>
            </a:r>
            <a:r>
              <a:rPr lang="fr-CA" dirty="0"/>
              <a:t> capable de piloter le nombre de </a:t>
            </a:r>
            <a:r>
              <a:rPr lang="fr-CA" dirty="0" err="1"/>
              <a:t>replicas</a:t>
            </a:r>
            <a:r>
              <a:rPr lang="fr-CA" dirty="0"/>
              <a:t> sur une métrique métier externe — ici le </a:t>
            </a:r>
            <a:r>
              <a:rPr lang="fr-CA" b="1" dirty="0"/>
              <a:t>lag du groupe de consommateurs Kafka</a:t>
            </a:r>
            <a:r>
              <a:rPr lang="fr-CA" dirty="0"/>
              <a:t> — au lieu du CPU. Sous le capot, KEDA génère quand même un HPA, mais alimenté par cette métrique externe.</a:t>
            </a:r>
          </a:p>
          <a:p>
            <a:pPr rtl="0"/>
            <a:endParaRPr lang="fr-CA" b="1" dirty="0"/>
          </a:p>
          <a:p>
            <a:pPr rtl="0"/>
            <a:r>
              <a:rPr lang="fr-CA" b="1" dirty="0"/>
              <a:t>Pourquoi on ne peut pas se contenter de Karpenter seul</a:t>
            </a:r>
          </a:p>
          <a:p>
            <a:pPr rtl="0"/>
            <a:r>
              <a:rPr lang="fr-CA" dirty="0"/>
              <a:t>Karpenter ne crée jamais de pods lui-même — il réagit à une pression de </a:t>
            </a:r>
            <a:r>
              <a:rPr lang="fr-CA" dirty="0" err="1"/>
              <a:t>scheduling</a:t>
            </a:r>
            <a:r>
              <a:rPr lang="fr-CA" dirty="0"/>
              <a:t> déjà créée par autre chose (HPA, KEDA, ou un déploiement manuel). Sans KEDA (ou HPA), rien ne dit à Kubernetes </a:t>
            </a:r>
            <a:r>
              <a:rPr lang="fr-CA" i="1" dirty="0"/>
              <a:t>combien</a:t>
            </a:r>
            <a:r>
              <a:rPr lang="fr-CA" dirty="0"/>
              <a:t> de </a:t>
            </a:r>
            <a:r>
              <a:rPr lang="fr-CA" dirty="0" err="1"/>
              <a:t>replicas</a:t>
            </a:r>
            <a:r>
              <a:rPr lang="fr-CA" dirty="0"/>
              <a:t> consommateurs il faut ; Karpenter n'a alors aucun signal à observer. Et un HPA classique sur CPU serait un mauvais proxy pour le lag, comme expliqué plus haut, en plus d'ignorer le plafond dur imposé par le nombre de partitions Kafka.</a:t>
            </a:r>
          </a:p>
          <a:p>
            <a:endParaRPr lang="fr-CA" noProof="0"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Une distinction du conteneur Spring Kafka. pause suspend la demande de nouveaux enregistrements tout en maintenant la vie du consommateur dans le groupe. stop arrête le conteneur et provoque un changement de composition du groupe. </a:t>
            </a:r>
          </a:p>
          <a:p>
            <a:endParaRPr lang="en-US" dirty="0"/>
          </a:p>
          <a:p>
            <a:r>
              <a:rPr lang="en-US" dirty="0"/>
              <a:t>Cela ne signifie pas que pause peut garantir l'absence de tout rééquilibrage causé ailleurs dans le cluster; cela signifie qu'elle n'exige pas en elle-même une sortie du groupe. Dans le sandbox, les événements de pause découplent le cœur du pipeline des composants de transport. Faire comparer avec la pause Flink par savepoint pour consolider les deux modèles </a:t>
            </a:r>
            <a:r>
              <a:rPr lang="en-US" dirty="0" err="1"/>
              <a:t>mentaux</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faut suivre la séquence opérationnelle sans promettre qu'elle couvre une panne de machine. La plateforme retire le pod du trafic, exécute éventuellement preStop, transmet SIGTERM, puis impose SIGKILL si le délai expire. </a:t>
            </a:r>
          </a:p>
          <a:p>
            <a:endParaRPr lang="fr-CA" noProof="0" dirty="0"/>
          </a:p>
          <a:p>
            <a:r>
              <a:rPr lang="fr-CA" noProof="0" dirty="0"/>
              <a:t>L'application doit cesser d'accepter du nouveau travail, laisser terminer l'en-cours, valider les effets puis les offsets correspondants et fermer les producteurs/consommateurs. Le délai global comprend le preStop et les phases d'arrêt applicatives. </a:t>
            </a:r>
          </a:p>
          <a:p>
            <a:endParaRPr lang="fr-CA" noProof="0" dirty="0"/>
          </a:p>
          <a:p>
            <a:r>
              <a:rPr lang="fr-CA" noProof="0" dirty="0"/>
              <a:t>Un arrêt brutal peut empêcher tout nettoyage; la sémantique de reprise et l'idempotence restent donc nécessaires.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Il faut distingue startup, liveness et readiness. </a:t>
            </a:r>
          </a:p>
          <a:p>
            <a:pPr marL="171450" indent="-171450">
              <a:buFont typeface="Arial" panose="020B0604020202020204" pitchFamily="34" charset="0"/>
              <a:buChar char="•"/>
            </a:pPr>
            <a:r>
              <a:rPr lang="en-US" dirty="0"/>
              <a:t>Startup protège la phase de démarrage. </a:t>
            </a:r>
          </a:p>
          <a:p>
            <a:pPr marL="171450" indent="-171450">
              <a:buFont typeface="Arial" panose="020B0604020202020204" pitchFamily="34" charset="0"/>
              <a:buChar char="•"/>
            </a:pPr>
            <a:r>
              <a:rPr lang="en-US" dirty="0"/>
              <a:t>Liveness porte sur la santé du processus et peut conduire à son redémarrage. </a:t>
            </a:r>
          </a:p>
          <a:p>
            <a:pPr marL="171450" indent="-171450">
              <a:buFont typeface="Arial" panose="020B0604020202020204" pitchFamily="34" charset="0"/>
              <a:buChar char="•"/>
            </a:pPr>
            <a:r>
              <a:rPr lang="en-US" dirty="0"/>
              <a:t>Readiness porte sur sa capacité à recevoir le trafic du service et retire le pod des endpoints sans l'arrêter. </a:t>
            </a:r>
          </a:p>
          <a:p>
            <a:endParaRPr lang="en-US" dirty="0"/>
          </a:p>
          <a:p>
            <a:r>
              <a:rPr lang="en-US" dirty="0"/>
              <a:t>Les indicateurs de santé doivent être rapides; les durées, compteurs et jauges relèvent des métriques. Le projet fournit des commandes pour basculer liveness/readiness et observer Actuator. Souligner que la readiness HTTP ne remplace pas le pilotage explicite de la consommation Kafka.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 </a:t>
            </a:r>
          </a:p>
          <a:p>
            <a:endParaRPr lang="fr-CA" noProof="0" dirty="0"/>
          </a:p>
          <a:p>
            <a:r>
              <a:rPr lang="fr-CA" noProof="0" dirty="0"/>
              <a:t>Présenter cette fiche comme un modèle de gouvernance issu du guide, pas comme l'inventaire d'un catalogue déjà déployé. </a:t>
            </a:r>
          </a:p>
          <a:p>
            <a:r>
              <a:rPr lang="fr-CA" noProof="0" dirty="0"/>
              <a:t>Documenter la signification, le propriétaire, le schéma, les producteurs/consommateurs, les objectifs de service et les règles d'accès/rétention. </a:t>
            </a:r>
          </a:p>
          <a:p>
            <a:r>
              <a:rPr lang="fr-CA" noProof="0" dirty="0"/>
              <a:t>La compatibilité du schéma et le cycle de vie du contrat doivent être explicites. </a:t>
            </a:r>
          </a:p>
          <a:p>
            <a:endParaRPr lang="fr-CA" noProof="0" dirty="0"/>
          </a:p>
          <a:p>
            <a:r>
              <a:rPr lang="fr-CA" noProof="0" dirty="0"/>
              <a:t>La documentation Data </a:t>
            </a:r>
            <a:r>
              <a:rPr lang="fr-CA" noProof="0" dirty="0" err="1"/>
              <a:t>Mesh</a:t>
            </a:r>
            <a:r>
              <a:rPr lang="fr-CA" noProof="0" dirty="0"/>
              <a:t>/Data </a:t>
            </a:r>
            <a:r>
              <a:rPr lang="fr-CA" noProof="0" dirty="0" err="1"/>
              <a:t>Fabric</a:t>
            </a:r>
            <a:r>
              <a:rPr lang="fr-CA" noProof="0" dirty="0"/>
              <a:t> rappelle que les types Java du sandbox forment un contrat implicite; une plateforme d'entreprise doit externaliser la découverte, les métadonnées et la gouvernance. </a:t>
            </a:r>
          </a:p>
          <a:p>
            <a:endParaRPr lang="fr-CA" noProof="0" dirty="0"/>
          </a:p>
          <a:p>
            <a:r>
              <a:rPr lang="fr-CA" noProof="0" dirty="0"/>
              <a:t>Question : qui est responsable si un message reste en DLT ? Ce responsable appartient au contrat opérationnel.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Le Data </a:t>
            </a:r>
            <a:r>
              <a:rPr lang="fr-CA" noProof="0" dirty="0" err="1"/>
              <a:t>Mesh</a:t>
            </a:r>
            <a:r>
              <a:rPr lang="fr-CA" noProof="0" dirty="0"/>
              <a:t> porte sur le modèle d'exploitation : propriété par domaine, données comme produit, plateforme libre-service et gouvernance fédérée. </a:t>
            </a:r>
          </a:p>
          <a:p>
            <a:r>
              <a:rPr lang="fr-CA" noProof="0" dirty="0"/>
              <a:t>Le Data </a:t>
            </a:r>
            <a:r>
              <a:rPr lang="fr-CA" noProof="0" dirty="0" err="1"/>
              <a:t>Fabric</a:t>
            </a:r>
            <a:r>
              <a:rPr lang="fr-CA" noProof="0" dirty="0"/>
              <a:t> porte sur les capacités partagées qui relient des données distribuées : intégration, métadonnées, qualité, accès et observabilité. </a:t>
            </a:r>
          </a:p>
          <a:p>
            <a:endParaRPr lang="fr-CA" noProof="0" dirty="0"/>
          </a:p>
          <a:p>
            <a:r>
              <a:rPr lang="fr-CA" noProof="0" dirty="0"/>
              <a:t>La documentation explique qu'un modèle hybride peut combiner les deux et que Kafka n'est pas obligatoire pour tout produit de données. </a:t>
            </a:r>
          </a:p>
          <a:p>
            <a:endParaRPr lang="fr-CA" noProof="0" dirty="0"/>
          </a:p>
          <a:p>
            <a:r>
              <a:rPr lang="fr-CA" noProof="0" dirty="0"/>
              <a:t>Un topic ne devient pas automatiquement un produit et un cluster Kafka ne constitue pas à lui seul un </a:t>
            </a:r>
            <a:r>
              <a:rPr lang="fr-CA" noProof="0" dirty="0" err="1"/>
              <a:t>Fabric</a:t>
            </a:r>
            <a:r>
              <a:rPr lang="fr-CA" noProof="0" dirty="0"/>
              <a:t>. Le sandbox reste une application pédagogique; il ne constitue ni l'un ni l'autre à l'échelle d'une entreprise.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Revenir à Banana : un pipeline peut consommer les messages tout en validant une quantité incorrecte. </a:t>
            </a:r>
          </a:p>
          <a:p>
            <a:r>
              <a:rPr lang="fr-CA" noProof="0" dirty="0"/>
              <a:t>La corroboration complète l'idempotence et les garanties de livraison. </a:t>
            </a:r>
          </a:p>
          <a:p>
            <a:endParaRPr lang="fr-CA" noProof="0" dirty="0"/>
          </a:p>
          <a:p>
            <a:r>
              <a:rPr lang="fr-CA" noProof="0" dirty="0"/>
              <a:t>Dans ce projet centré sur la base, les tables relationnelles constituent l'état de référence; Kafka déclenche leurs mutations. </a:t>
            </a:r>
          </a:p>
          <a:p>
            <a:r>
              <a:rPr lang="fr-CA" noProof="0" dirty="0"/>
              <a:t>Il ne faut donc pas présenter le sandbox comme une implémentation d'</a:t>
            </a:r>
            <a:r>
              <a:rPr lang="fr-CA" noProof="0" dirty="0" err="1"/>
              <a:t>event</a:t>
            </a:r>
            <a:r>
              <a:rPr lang="fr-CA" noProof="0" dirty="0"/>
              <a:t> </a:t>
            </a:r>
            <a:r>
              <a:rPr lang="fr-CA" noProof="0" dirty="0" err="1"/>
              <a:t>sourcing</a:t>
            </a:r>
            <a:r>
              <a:rPr lang="fr-CA" noProof="0" dirty="0"/>
              <a:t>. </a:t>
            </a:r>
          </a:p>
          <a:p>
            <a:endParaRPr lang="fr-CA" noProof="0" dirty="0"/>
          </a:p>
          <a:p>
            <a:r>
              <a:rPr lang="fr-CA" noProof="0" dirty="0"/>
              <a:t>Comparer les demandes exécutées, leurs quantités et opérations, et les mouvements d'inventaire attendus. </a:t>
            </a:r>
          </a:p>
          <a:p>
            <a:r>
              <a:rPr lang="fr-CA" noProof="0" dirty="0"/>
              <a:t>Les comptages par résultat constituent un premier signal; ils ne suffisent pas à prouver chaque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Il n’y a pas un seul contrôle miracle. </a:t>
            </a:r>
          </a:p>
          <a:p>
            <a:r>
              <a:rPr lang="fr-CA" noProof="0" dirty="0"/>
              <a:t>Les comptages et sommes de contrôle signalent rapidement un écart. </a:t>
            </a:r>
          </a:p>
          <a:p>
            <a:r>
              <a:rPr lang="fr-CA" noProof="0" dirty="0"/>
              <a:t>Les snapshots et invariants donnent des repères périodiques. </a:t>
            </a:r>
          </a:p>
          <a:p>
            <a:r>
              <a:rPr lang="fr-CA" noProof="0" dirty="0"/>
              <a:t>Le rejeu et les consommateurs fantômes permettent une comparaison approfondie, notamment pour une migration. </a:t>
            </a:r>
          </a:p>
          <a:p>
            <a:r>
              <a:rPr lang="fr-CA" noProof="0" dirty="0"/>
              <a:t>Les hachages exigent un état représenté de façon déterministe. </a:t>
            </a:r>
          </a:p>
          <a:p>
            <a:r>
              <a:rPr lang="fr-CA" noProof="0" dirty="0"/>
              <a:t>Une divergence doit être localisée, classée, réparée puis consignée. </a:t>
            </a:r>
          </a:p>
          <a:p>
            <a:endParaRPr lang="fr-CA"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Cohérence à terme : rééquilibrages, crashs et pannes réseau créent des divergences silencieuses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Techniques en couches : sommes de contrôle, snapshots, rejeu d'événements, consommateurs fantômes</a:t>
            </a:r>
            <a:endParaRPr lang="fr-CA" sz="1200" noProof="0" dirty="0"/>
          </a:p>
          <a:p>
            <a:pPr marL="228600" indent="-228600">
              <a:spcAft>
                <a:spcPts val="1200"/>
              </a:spcAft>
              <a:buSzPct val="100000"/>
              <a:buChar char="▪"/>
            </a:pPr>
            <a:r>
              <a:rPr lang="fr-CA" sz="1200" noProof="0" dirty="0">
                <a:solidFill>
                  <a:srgbClr val="26314D"/>
                </a:solidFill>
                <a:latin typeface="Arial" pitchFamily="34" charset="0"/>
                <a:ea typeface="Arial" pitchFamily="34" charset="-122"/>
                <a:cs typeface="Arial" pitchFamily="34" charset="-120"/>
              </a:rPr>
              <a:t>Invariants métier (inventaire jamais négatif) comme premier symptôme visible d'une dérive</a:t>
            </a:r>
            <a:endParaRPr lang="fr-CA" sz="1200" noProof="0"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Conserver le cadrage du chapitre de conclusion : ETL signifie ici surtout intégration par lots et SOA surtout interactions synchrones par services/API. </a:t>
            </a:r>
          </a:p>
          <a:p>
            <a:r>
              <a:rPr lang="fr-CA" noProof="0" dirty="0"/>
              <a:t>Ces définitions sont le périmètre de la comparaison, pas des définitions exhaustives. </a:t>
            </a:r>
          </a:p>
          <a:p>
            <a:endParaRPr lang="fr-CA" noProof="0" dirty="0"/>
          </a:p>
          <a:p>
            <a:r>
              <a:rPr lang="fr-CA" noProof="0" dirty="0"/>
              <a:t>ETL organise les calendriers, transformations et contrôles de qualité. SOA organise les interfaces, appels et dépendances de disponibilité. EDA organise les événements, contrats, reprises et effets asynchrones. </a:t>
            </a:r>
          </a:p>
          <a:p>
            <a:endParaRPr lang="fr-CA" noProof="0" dirty="0"/>
          </a:p>
          <a:p>
            <a:r>
              <a:rPr lang="fr-CA" noProof="0" dirty="0"/>
              <a:t>L'EDA réduit certains couplages, mais maintient le couplage sémantique et de plateforme. Le guide recommande de choisir un mécanisme suffisant pour chaque interaction et envisage un modèle hybride.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Le chapitre TCO/ROI ne fournit pas un business case chiffré pour ce projet; il fournit un cadre de décision. </a:t>
            </a:r>
          </a:p>
          <a:p>
            <a:r>
              <a:rPr lang="en-US" dirty="0"/>
              <a:t>Les coûts comprennent la plateforme, l'ingénierie, l'exploitation, l'exactitude et la gouvernance, pas seulement Kafka. </a:t>
            </a:r>
          </a:p>
          <a:p>
            <a:endParaRPr lang="en-US" dirty="0"/>
          </a:p>
          <a:p>
            <a:r>
              <a:rPr lang="en-US" dirty="0"/>
              <a:t>Les bénéfices peuvent venir de la réutilisation des événements, de la réactivité, du découplage et du rejeu. Ils doivent être reliés à des résultats mesurables et comparés à une option plus simple. </a:t>
            </a:r>
          </a:p>
          <a:p>
            <a:endParaRPr lang="en-US" dirty="0"/>
          </a:p>
          <a:p>
            <a:r>
              <a:rPr lang="en-US" dirty="0"/>
              <a:t>L'ADR consigne le besoin, les garanties, les hypothèses, les responsabilités et les critères de réévaluation. </a:t>
            </a:r>
          </a:p>
          <a:p>
            <a:r>
              <a:rPr lang="en-US" dirty="0"/>
              <a:t>Ne pas inventer de pourcentage de ROI ni de gains financiers.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diapositive synthétise les limites explicitement assumées par la documentation. </a:t>
            </a:r>
          </a:p>
          <a:p>
            <a:r>
              <a:rPr lang="fr-CA" noProof="0" dirty="0"/>
              <a:t>Les moteurs et la base sont embarqués pour apprendre. Les valeurs de configuration et les raccourcis in-JVM ne sont pas des contrats de production. </a:t>
            </a:r>
          </a:p>
          <a:p>
            <a:endParaRPr lang="fr-CA" noProof="0" dirty="0"/>
          </a:p>
          <a:p>
            <a:r>
              <a:rPr lang="fr-CA" noProof="0" dirty="0"/>
              <a:t>L'Outbox, le catalogue, le partage de l'état, la sécurisation et l’élasticité nécessitent une conception et une validation propres à la cible. </a:t>
            </a:r>
          </a:p>
          <a:p>
            <a:endParaRPr lang="fr-CA" noProof="0" dirty="0"/>
          </a:p>
          <a:p>
            <a:r>
              <a:rPr lang="fr-CA" noProof="0" dirty="0"/>
              <a:t>Ne pas transformer cette liste en rapport d'audit : les constats et corrections de la revue de code précédente ne sont pas le sujet de ce support. L'objectif est que les étudiants sachent distinguer une expérience reproductible d'une architecture d'exploitation complète.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Proposition pédagogique construite à partir des expériences de la documentation, non procédure de test déjà exécutée. </a:t>
            </a:r>
          </a:p>
          <a:p>
            <a:endParaRPr lang="fr-CA" noProof="0" dirty="0"/>
          </a:p>
          <a:p>
            <a:pPr marL="228600" indent="-228600">
              <a:buAutoNum type="arabicPeriod"/>
            </a:pPr>
            <a:r>
              <a:rPr lang="fr-CA" noProof="0" dirty="0"/>
              <a:t>Comparer avec et sans clé sur le même jeu de données : observer l'ordre et les quantités, puis expliquer la course. </a:t>
            </a:r>
          </a:p>
          <a:p>
            <a:pPr marL="228600" indent="-228600">
              <a:buAutoNum type="arabicPeriod"/>
            </a:pPr>
            <a:r>
              <a:rPr lang="fr-CA" noProof="0" dirty="0"/>
              <a:t>Tester un rejeu autorisé et observer les statuts et le journal : identifier ce qui doit rester sans effet en double. </a:t>
            </a:r>
          </a:p>
          <a:p>
            <a:pPr marL="228600" indent="-228600">
              <a:buAutoNum type="arabicPeriod"/>
            </a:pPr>
            <a:r>
              <a:rPr lang="fr-CA" noProof="0" dirty="0"/>
              <a:t>Comparer la pause directe et la pause Flink : distinguer appartenance au groupe et savepoint. </a:t>
            </a:r>
          </a:p>
          <a:p>
            <a:pPr marL="228600" indent="-228600">
              <a:buAutoNum type="arabicPeriod"/>
            </a:pPr>
            <a:r>
              <a:rPr lang="fr-CA" noProof="0" dirty="0"/>
              <a:t>Examiner les demandes traitées et l’inventaire: montrer pourquoi le transport seul ne prouve pas l'exactitude. </a:t>
            </a:r>
          </a:p>
          <a:p>
            <a:pPr marL="228600" indent="-228600">
              <a:buAutoNum type="arabicPeriod"/>
            </a:pPr>
            <a:endParaRPr lang="fr-CA" noProof="0" dirty="0"/>
          </a:p>
          <a:p>
            <a:pPr marL="0" indent="0">
              <a:buNone/>
            </a:pPr>
            <a:r>
              <a:rPr lang="fr-CA" noProof="0" dirty="0"/>
              <a:t>Préparer la version corrigée et les scénarios avant la séance; ne pas déclencher de remise à zéro pendant un lot actif.</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Reprendre les six acquis sans ajouter de nouvelle garantie. </a:t>
            </a:r>
          </a:p>
          <a:p>
            <a:r>
              <a:rPr lang="fr-CA" noProof="0" dirty="0"/>
              <a:t>La clé exprime l'ordre métier. </a:t>
            </a:r>
          </a:p>
          <a:p>
            <a:r>
              <a:rPr lang="fr-CA" noProof="0" dirty="0"/>
              <a:t>La frontière transactionnelle définit ce qui est atomique. </a:t>
            </a:r>
          </a:p>
          <a:p>
            <a:r>
              <a:rPr lang="fr-CA" noProof="0" dirty="0"/>
              <a:t>L'idempotence permet de tolérer la relivraison. </a:t>
            </a:r>
          </a:p>
          <a:p>
            <a:r>
              <a:rPr lang="fr-CA" noProof="0" dirty="0"/>
              <a:t>Le runtime et les partitions bornent le parallélisme et la reprise. </a:t>
            </a:r>
          </a:p>
          <a:p>
            <a:r>
              <a:rPr lang="fr-CA" noProof="0" dirty="0"/>
              <a:t>L'observabilité et la corroboration distinguent fonctionnement et exactitude. </a:t>
            </a:r>
          </a:p>
          <a:p>
            <a:endParaRPr lang="fr-CA" noProof="0" dirty="0"/>
          </a:p>
          <a:p>
            <a:r>
              <a:rPr lang="fr-CA" noProof="0" dirty="0"/>
              <a:t>Enfin, gouvernance et TCO/ROI ramènent le choix technologique au besoin. </a:t>
            </a:r>
          </a:p>
          <a:p>
            <a:endParaRPr lang="fr-CA" noProof="0" dirty="0"/>
          </a:p>
          <a:p>
            <a:r>
              <a:rPr lang="fr-CA" noProof="0" dirty="0"/>
              <a:t>Question de clôture : pour une nouvelle intégration, quelles preuves demanderiez-vous avant de qualifier son traitement de fiable ? </a:t>
            </a:r>
          </a:p>
          <a:p>
            <a:r>
              <a:rPr lang="fr-CA" noProof="0" dirty="0"/>
              <a:t>Les annexes donnent les repères pour poursuivre la lecture et préparer les discussions techniques.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fr-CA" noProof="0" dirty="0"/>
              <a:t>Cette carte de lecture permet de revenir à la documentation originale après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fr-CA" noProof="0" dirty="0"/>
              <a:t>Note:</a:t>
            </a:r>
          </a:p>
          <a:p>
            <a:endParaRPr lang="fr-CA" noProof="0" dirty="0"/>
          </a:p>
          <a:p>
            <a:r>
              <a:rPr lang="fr-CA" noProof="0" dirty="0"/>
              <a:t>Cette annexe s'appuie sur le schéma JRN_EVENT, pas sur une nouvelle interprétation des en-têtes de rejeu. </a:t>
            </a:r>
          </a:p>
          <a:p>
            <a:r>
              <a:rPr lang="fr-CA" noProof="0" dirty="0"/>
              <a:t>CONSUMER_ID et EVENT_ID constituent la clé d'affaires (contrainte UNIQUE), utilisée pour la recherche. </a:t>
            </a:r>
          </a:p>
          <a:p>
            <a:r>
              <a:rPr lang="fr-CA" noProof="0" dirty="0"/>
              <a:t>JRN_EVENT_ID est la clé primaire technique (identity), distincte de cette clé d'affaires. </a:t>
            </a:r>
          </a:p>
          <a:p>
            <a:r>
              <a:rPr lang="fr-CA" noProof="0" dirty="0"/>
              <a:t>BATCH_ID corrèle une publication. </a:t>
            </a:r>
          </a:p>
          <a:p>
            <a:r>
              <a:rPr lang="fr-CA" noProof="0" dirty="0"/>
              <a:t>EVENT_TYPE indique une première livraison ou un rejeu. </a:t>
            </a:r>
          </a:p>
          <a:p>
            <a:r>
              <a:rPr lang="fr-CA" noProof="0" dirty="0"/>
              <a:t>RESULT indique l'issue. </a:t>
            </a:r>
          </a:p>
          <a:p>
            <a:r>
              <a:rPr lang="fr-CA" noProof="0" dirty="0"/>
              <a:t>PAYLOAD_HASH et les dates enrichissent la traçabilité.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fr-CA" noProof="0" dirty="0"/>
              <a:t>Note:</a:t>
            </a:r>
          </a:p>
          <a:p>
            <a:endParaRPr lang="fr-CA" noProof="0" dirty="0"/>
          </a:p>
          <a:p>
            <a:r>
              <a:rPr lang="fr-CA" noProof="0" dirty="0"/>
              <a:t>Un Sandbox demeure un outil pédagogique.</a:t>
            </a:r>
          </a:p>
        </p:txBody>
      </p:sp>
    </p:spTree>
    <p:extLst>
      <p:ext uri="{BB962C8B-B14F-4D97-AF65-F5344CB8AC3E}">
        <p14:creationId xmlns:p14="http://schemas.microsoft.com/office/powerpoint/2010/main" val="30979251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notesSlide" Target="../notesSlides/notesSlide41.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3.xml"/><Relationship Id="rId13" Type="http://schemas.openxmlformats.org/officeDocument/2006/relationships/tags" Target="../tags/tag1208.xml"/><Relationship Id="rId18" Type="http://schemas.openxmlformats.org/officeDocument/2006/relationships/tags" Target="../tags/tag1213.xml"/><Relationship Id="rId26" Type="http://schemas.openxmlformats.org/officeDocument/2006/relationships/tags" Target="../tags/tag1221.xml"/><Relationship Id="rId3" Type="http://schemas.openxmlformats.org/officeDocument/2006/relationships/tags" Target="../tags/tag1198.xml"/><Relationship Id="rId21" Type="http://schemas.openxmlformats.org/officeDocument/2006/relationships/tags" Target="../tags/tag1216.xml"/><Relationship Id="rId34" Type="http://schemas.openxmlformats.org/officeDocument/2006/relationships/tags" Target="../tags/tag1229.xml"/><Relationship Id="rId7" Type="http://schemas.openxmlformats.org/officeDocument/2006/relationships/tags" Target="../tags/tag1202.xml"/><Relationship Id="rId12" Type="http://schemas.openxmlformats.org/officeDocument/2006/relationships/tags" Target="../tags/tag1207.xml"/><Relationship Id="rId17" Type="http://schemas.openxmlformats.org/officeDocument/2006/relationships/tags" Target="../tags/tag1212.xml"/><Relationship Id="rId25" Type="http://schemas.openxmlformats.org/officeDocument/2006/relationships/tags" Target="../tags/tag1220.xml"/><Relationship Id="rId33" Type="http://schemas.openxmlformats.org/officeDocument/2006/relationships/tags" Target="../tags/tag1228.xml"/><Relationship Id="rId2" Type="http://schemas.openxmlformats.org/officeDocument/2006/relationships/tags" Target="../tags/tag1197.xml"/><Relationship Id="rId16" Type="http://schemas.openxmlformats.org/officeDocument/2006/relationships/tags" Target="../tags/tag1211.xml"/><Relationship Id="rId20" Type="http://schemas.openxmlformats.org/officeDocument/2006/relationships/tags" Target="../tags/tag1215.xml"/><Relationship Id="rId29" Type="http://schemas.openxmlformats.org/officeDocument/2006/relationships/tags" Target="../tags/tag1224.xml"/><Relationship Id="rId1" Type="http://schemas.openxmlformats.org/officeDocument/2006/relationships/tags" Target="../tags/tag1196.xml"/><Relationship Id="rId6" Type="http://schemas.openxmlformats.org/officeDocument/2006/relationships/tags" Target="../tags/tag1201.xml"/><Relationship Id="rId11" Type="http://schemas.openxmlformats.org/officeDocument/2006/relationships/tags" Target="../tags/tag1206.xml"/><Relationship Id="rId24" Type="http://schemas.openxmlformats.org/officeDocument/2006/relationships/tags" Target="../tags/tag1219.xml"/><Relationship Id="rId32" Type="http://schemas.openxmlformats.org/officeDocument/2006/relationships/tags" Target="../tags/tag1227.xml"/><Relationship Id="rId37" Type="http://schemas.openxmlformats.org/officeDocument/2006/relationships/notesSlide" Target="../notesSlides/notesSlide42.xml"/><Relationship Id="rId5" Type="http://schemas.openxmlformats.org/officeDocument/2006/relationships/tags" Target="../tags/tag1200.xml"/><Relationship Id="rId15" Type="http://schemas.openxmlformats.org/officeDocument/2006/relationships/tags" Target="../tags/tag1210.xml"/><Relationship Id="rId23" Type="http://schemas.openxmlformats.org/officeDocument/2006/relationships/tags" Target="../tags/tag1218.xml"/><Relationship Id="rId28" Type="http://schemas.openxmlformats.org/officeDocument/2006/relationships/tags" Target="../tags/tag1223.xml"/><Relationship Id="rId36" Type="http://schemas.openxmlformats.org/officeDocument/2006/relationships/slideLayout" Target="../slideLayouts/slideLayout1.xml"/><Relationship Id="rId10" Type="http://schemas.openxmlformats.org/officeDocument/2006/relationships/tags" Target="../tags/tag1205.xml"/><Relationship Id="rId19" Type="http://schemas.openxmlformats.org/officeDocument/2006/relationships/tags" Target="../tags/tag1214.xml"/><Relationship Id="rId31" Type="http://schemas.openxmlformats.org/officeDocument/2006/relationships/tags" Target="../tags/tag1226.xml"/><Relationship Id="rId4" Type="http://schemas.openxmlformats.org/officeDocument/2006/relationships/tags" Target="../tags/tag1199.xml"/><Relationship Id="rId9" Type="http://schemas.openxmlformats.org/officeDocument/2006/relationships/tags" Target="../tags/tag1204.xml"/><Relationship Id="rId14" Type="http://schemas.openxmlformats.org/officeDocument/2006/relationships/tags" Target="../tags/tag1209.xml"/><Relationship Id="rId22" Type="http://schemas.openxmlformats.org/officeDocument/2006/relationships/tags" Target="../tags/tag1217.xml"/><Relationship Id="rId27" Type="http://schemas.openxmlformats.org/officeDocument/2006/relationships/tags" Target="../tags/tag1222.xml"/><Relationship Id="rId30" Type="http://schemas.openxmlformats.org/officeDocument/2006/relationships/tags" Target="../tags/tag1225.xml"/><Relationship Id="rId35" Type="http://schemas.openxmlformats.org/officeDocument/2006/relationships/tags" Target="../tags/tag1230.xml"/></Relationships>
</file>

<file path=ppt/slides/_rels/slide43.xml.rels><?xml version="1.0" encoding="UTF-8" standalone="yes"?>
<Relationships xmlns="http://schemas.openxmlformats.org/package/2006/relationships"><Relationship Id="rId8" Type="http://schemas.openxmlformats.org/officeDocument/2006/relationships/tags" Target="../tags/tag1238.xml"/><Relationship Id="rId3" Type="http://schemas.openxmlformats.org/officeDocument/2006/relationships/tags" Target="../tags/tag1233.xml"/><Relationship Id="rId7" Type="http://schemas.openxmlformats.org/officeDocument/2006/relationships/tags" Target="../tags/tag1237.xml"/><Relationship Id="rId2" Type="http://schemas.openxmlformats.org/officeDocument/2006/relationships/tags" Target="../tags/tag1232.xml"/><Relationship Id="rId1" Type="http://schemas.openxmlformats.org/officeDocument/2006/relationships/tags" Target="../tags/tag1231.xml"/><Relationship Id="rId6" Type="http://schemas.openxmlformats.org/officeDocument/2006/relationships/tags" Target="../tags/tag1236.xml"/><Relationship Id="rId11" Type="http://schemas.openxmlformats.org/officeDocument/2006/relationships/image" Target="../media/image15.png"/><Relationship Id="rId5" Type="http://schemas.openxmlformats.org/officeDocument/2006/relationships/tags" Target="../tags/tag1235.xml"/><Relationship Id="rId10" Type="http://schemas.openxmlformats.org/officeDocument/2006/relationships/notesSlide" Target="../notesSlides/notesSlide43.xml"/><Relationship Id="rId4" Type="http://schemas.openxmlformats.org/officeDocument/2006/relationships/tags" Target="../tags/tag1234.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6.xml"/><Relationship Id="rId13" Type="http://schemas.openxmlformats.org/officeDocument/2006/relationships/tags" Target="../tags/tag1251.xml"/><Relationship Id="rId18" Type="http://schemas.openxmlformats.org/officeDocument/2006/relationships/tags" Target="../tags/tag1256.xml"/><Relationship Id="rId26" Type="http://schemas.openxmlformats.org/officeDocument/2006/relationships/tags" Target="../tags/tag1264.xml"/><Relationship Id="rId39" Type="http://schemas.openxmlformats.org/officeDocument/2006/relationships/tags" Target="../tags/tag1277.xml"/><Relationship Id="rId3" Type="http://schemas.openxmlformats.org/officeDocument/2006/relationships/tags" Target="../tags/tag1241.xml"/><Relationship Id="rId21" Type="http://schemas.openxmlformats.org/officeDocument/2006/relationships/tags" Target="../tags/tag1259.xml"/><Relationship Id="rId34" Type="http://schemas.openxmlformats.org/officeDocument/2006/relationships/tags" Target="../tags/tag1272.xml"/><Relationship Id="rId7" Type="http://schemas.openxmlformats.org/officeDocument/2006/relationships/tags" Target="../tags/tag1245.xml"/><Relationship Id="rId12" Type="http://schemas.openxmlformats.org/officeDocument/2006/relationships/tags" Target="../tags/tag1250.xml"/><Relationship Id="rId17" Type="http://schemas.openxmlformats.org/officeDocument/2006/relationships/tags" Target="../tags/tag1255.xml"/><Relationship Id="rId25" Type="http://schemas.openxmlformats.org/officeDocument/2006/relationships/tags" Target="../tags/tag1263.xml"/><Relationship Id="rId33" Type="http://schemas.openxmlformats.org/officeDocument/2006/relationships/tags" Target="../tags/tag1271.xml"/><Relationship Id="rId38" Type="http://schemas.openxmlformats.org/officeDocument/2006/relationships/tags" Target="../tags/tag1276.xml"/><Relationship Id="rId2" Type="http://schemas.openxmlformats.org/officeDocument/2006/relationships/tags" Target="../tags/tag1240.xml"/><Relationship Id="rId16" Type="http://schemas.openxmlformats.org/officeDocument/2006/relationships/tags" Target="../tags/tag1254.xml"/><Relationship Id="rId20" Type="http://schemas.openxmlformats.org/officeDocument/2006/relationships/tags" Target="../tags/tag1258.xml"/><Relationship Id="rId29" Type="http://schemas.openxmlformats.org/officeDocument/2006/relationships/tags" Target="../tags/tag1267.xml"/><Relationship Id="rId41" Type="http://schemas.openxmlformats.org/officeDocument/2006/relationships/notesSlide" Target="../notesSlides/notesSlide44.xml"/><Relationship Id="rId1" Type="http://schemas.openxmlformats.org/officeDocument/2006/relationships/tags" Target="../tags/tag1239.xml"/><Relationship Id="rId6" Type="http://schemas.openxmlformats.org/officeDocument/2006/relationships/tags" Target="../tags/tag1244.xml"/><Relationship Id="rId11" Type="http://schemas.openxmlformats.org/officeDocument/2006/relationships/tags" Target="../tags/tag1249.xml"/><Relationship Id="rId24" Type="http://schemas.openxmlformats.org/officeDocument/2006/relationships/tags" Target="../tags/tag1262.xml"/><Relationship Id="rId32" Type="http://schemas.openxmlformats.org/officeDocument/2006/relationships/tags" Target="../tags/tag1270.xml"/><Relationship Id="rId37" Type="http://schemas.openxmlformats.org/officeDocument/2006/relationships/tags" Target="../tags/tag1275.xml"/><Relationship Id="rId40" Type="http://schemas.openxmlformats.org/officeDocument/2006/relationships/slideLayout" Target="../slideLayouts/slideLayout1.xml"/><Relationship Id="rId5" Type="http://schemas.openxmlformats.org/officeDocument/2006/relationships/tags" Target="../tags/tag1243.xml"/><Relationship Id="rId15" Type="http://schemas.openxmlformats.org/officeDocument/2006/relationships/tags" Target="../tags/tag1253.xml"/><Relationship Id="rId23" Type="http://schemas.openxmlformats.org/officeDocument/2006/relationships/tags" Target="../tags/tag1261.xml"/><Relationship Id="rId28" Type="http://schemas.openxmlformats.org/officeDocument/2006/relationships/tags" Target="../tags/tag1266.xml"/><Relationship Id="rId36" Type="http://schemas.openxmlformats.org/officeDocument/2006/relationships/tags" Target="../tags/tag1274.xml"/><Relationship Id="rId10" Type="http://schemas.openxmlformats.org/officeDocument/2006/relationships/tags" Target="../tags/tag1248.xml"/><Relationship Id="rId19" Type="http://schemas.openxmlformats.org/officeDocument/2006/relationships/tags" Target="../tags/tag1257.xml"/><Relationship Id="rId31" Type="http://schemas.openxmlformats.org/officeDocument/2006/relationships/tags" Target="../tags/tag1269.xml"/><Relationship Id="rId4" Type="http://schemas.openxmlformats.org/officeDocument/2006/relationships/tags" Target="../tags/tag1242.xml"/><Relationship Id="rId9" Type="http://schemas.openxmlformats.org/officeDocument/2006/relationships/tags" Target="../tags/tag1247.xml"/><Relationship Id="rId14" Type="http://schemas.openxmlformats.org/officeDocument/2006/relationships/tags" Target="../tags/tag1252.xml"/><Relationship Id="rId22" Type="http://schemas.openxmlformats.org/officeDocument/2006/relationships/tags" Target="../tags/tag1260.xml"/><Relationship Id="rId27" Type="http://schemas.openxmlformats.org/officeDocument/2006/relationships/tags" Target="../tags/tag1265.xml"/><Relationship Id="rId30" Type="http://schemas.openxmlformats.org/officeDocument/2006/relationships/tags" Target="../tags/tag1268.xml"/><Relationship Id="rId35" Type="http://schemas.openxmlformats.org/officeDocument/2006/relationships/tags" Target="../tags/tag12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Traitement des flux et résilience EDA</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Guide d'ingénierie Kafka</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Du premier message publié</a:t>
            </a:r>
            <a:r>
              <a:rPr lang="fr-CA" sz="2900" noProof="0" dirty="0"/>
              <a:t> </a:t>
            </a:r>
          </a:p>
          <a:p>
            <a:pPr marL="0" indent="0">
              <a:buNone/>
            </a:pPr>
            <a:r>
              <a:rPr lang="fr-CA" sz="2900" noProof="0" dirty="0">
                <a:solidFill>
                  <a:srgbClr val="FFFFFF"/>
                </a:solidFill>
                <a:latin typeface="Calibri" pitchFamily="34" charset="0"/>
                <a:ea typeface="Calibri" pitchFamily="34" charset="-122"/>
                <a:cs typeface="Calibri" pitchFamily="34" charset="-120"/>
              </a:rPr>
              <a:t>à la résilience EDA</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Un Sandbox d’apprentissage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Parcours pédagogique en français  |  Octobre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GUIDE D’INGÉNIRIE KAFKA</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Ce guide présente un projet concret (avec implémentation de style Sandbox) qui intègre les meilleures pratiques.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Les meilleures pratiques de l’architecture EDA </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Plus de 40 diapositives de parcours + quelques annexes de repérage et d'approfondissement</a:t>
            </a:r>
            <a:r>
              <a:rPr lang="fr-CA" sz="1550" b="1" dirty="0">
                <a:solidFill>
                  <a:srgbClr val="102A43"/>
                </a:solidFill>
                <a:latin typeface="Calibri" pitchFamily="34" charset="0"/>
                <a:ea typeface="Calibri" pitchFamily="34" charset="-122"/>
                <a:cs typeface="Calibri" pitchFamily="34" charset="-120"/>
              </a:rPr>
              <a:t>.</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Sous-évaluation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Les équipes de réalisation sous-évalue généralement la complexité d’intégration avec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Kafka distribuée</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La nature distribuée de l’architecture Kafka doit être prise en considération.</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Partenaires externes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fontScale="85000" lnSpcReduction="20000"/>
          </a:bodyPr>
          <a:lstStyle/>
          <a:p>
            <a:r>
              <a:rPr lang="fr-CA" sz="1620" dirty="0">
                <a:solidFill>
                  <a:srgbClr val="486581"/>
                </a:solidFill>
                <a:latin typeface="Calibri" pitchFamily="34" charset="0"/>
                <a:ea typeface="Calibri" pitchFamily="34" charset="-122"/>
                <a:cs typeface="Calibri" pitchFamily="34" charset="-120"/>
              </a:rPr>
              <a:t>Nos partenaires ont très peu d’expertise dans ce domaine – C’est simplement un constat.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Projet style Sandbox</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Un projet concret qui démontre une implémentation d’architecture EDA.</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et présentation des concepts avec implémentation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Nous allons présenter les meilleures pratiques pour mettre en place une architecture résiliente avec des exemples concrets – Via le Sandbox d’apprentissage.</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PARCOURS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DU CONCRET VERS LES GARANTIES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étapes pour le transfert des connaissances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fil conducteur : publier une requête, produire un effet métier, puis contrôler/corroborer cet effet.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Découvrir le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données et parcours d'une requête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Comprendre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clés et ordre métier.</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Fiabiliser les effets</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Livraison, transactions, idempotence, DLT et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Explorer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et frontières de runtime.</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Exploiter et distribuer</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Parallélisme, arrêt, sondes et élasticité.</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Prouver et choisir</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Observabilité, gouvernance, corroboration et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Projet GITHUB :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CADRAGE DU GUIDE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Publier un message ne suffit pas à construire une plateforme EDA</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 architecture événementielle. Le transport rend l'échange possible; il ne garantit pas, seul, la fiabilité des effets.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3897518"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Publier, conserver et consommer les messages normalisés.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Exactitude</a:t>
            </a:r>
            <a:endParaRPr lang="fr-CA" sz="2000" noProof="0" dirty="0"/>
          </a:p>
        </p:txBody>
      </p:sp>
      <p:sp>
        <p:nvSpPr>
          <p:cNvPr id="15" name="Text 12"/>
          <p:cNvSpPr/>
          <p:nvPr>
            <p:custDataLst>
              <p:tags r:id="rId13"/>
            </p:custDataLst>
          </p:nvPr>
        </p:nvSpPr>
        <p:spPr>
          <a:xfrm>
            <a:off x="1299055" y="3638066"/>
            <a:ext cx="3879232"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Ordonner, dédupliquer et valider les effets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Confiance</a:t>
            </a:r>
            <a:endParaRPr lang="fr-CA" sz="2000" noProof="0" dirty="0"/>
          </a:p>
        </p:txBody>
      </p:sp>
      <p:sp>
        <p:nvSpPr>
          <p:cNvPr id="18" name="Text 15"/>
          <p:cNvSpPr/>
          <p:nvPr>
            <p:custDataLst>
              <p:tags r:id="rId16"/>
            </p:custDataLst>
          </p:nvPr>
        </p:nvSpPr>
        <p:spPr>
          <a:xfrm>
            <a:off x="1280770" y="4806422"/>
            <a:ext cx="3897518"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gouverner, contrôler et corroborer les données.</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Nos requins : Bronze, argent et or – Nos spécialistes de l’architecture médaillon.</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DÉCOUVRIR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DANS LE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application autonome pour observer les effets/compromis/décisions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frontend statique Nuxt et le backend Spring Boot sont regroupés dans un seul artefact déployable.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Navigateur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Interface Nuxt</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rmAutofit fontScale="62500" lnSpcReduction="20000"/>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 </a:t>
            </a:r>
            <a:r>
              <a:rPr lang="fr-CA" sz="3200" b="1" kern="0" spc="50" noProof="0" dirty="0">
                <a:solidFill>
                  <a:srgbClr val="1F6FEB"/>
                </a:solidFill>
                <a:latin typeface="Calibri" pitchFamily="34" charset="0"/>
                <a:ea typeface="Calibri" pitchFamily="34" charset="-122"/>
                <a:cs typeface="Calibri" pitchFamily="34" charset="-120"/>
              </a:rPr>
              <a:t> ARTEFACT APPLICATIF AUTONOME</a:t>
            </a:r>
            <a:endParaRPr lang="fr-CA" sz="32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API BFF et ressources statiques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et logique métier</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Sandbox éducatif : une commodité d'exécution, pas une topologie de production.</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LE FIL ROUGE MÉTIER</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Une requête relie une personne, un produit et </a:t>
            </a:r>
            <a:r>
              <a:rPr lang="fr-CA" sz="2700" b="1" noProof="0" dirty="0">
                <a:solidFill>
                  <a:srgbClr val="102A43"/>
                </a:solidFill>
                <a:latin typeface="Calibri" pitchFamily="34" charset="0"/>
                <a:ea typeface="Calibri" pitchFamily="34" charset="-122"/>
                <a:cs typeface="Calibri" pitchFamily="34" charset="-120"/>
              </a:rPr>
              <a:t>un inventaire</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Le traitement doit faire évoluer le solde, l'inventaire et le résultat de la requête de façon cohérente.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L’acheteur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solde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Opérations </a:t>
            </a:r>
          </a:p>
          <a:p>
            <a:pPr marL="0" indent="0" algn="ctr">
              <a:buNone/>
            </a:pPr>
            <a:r>
              <a:rPr lang="fr-CA" sz="1620" noProof="0" dirty="0">
                <a:solidFill>
                  <a:srgbClr val="486581"/>
                </a:solidFill>
                <a:latin typeface="Calibri" pitchFamily="34" charset="0"/>
                <a:ea typeface="Calibri" pitchFamily="34" charset="-122"/>
                <a:cs typeface="Calibri" pitchFamily="34" charset="-120"/>
              </a:rPr>
              <a:t>à effectuer</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Le produit et </a:t>
            </a:r>
          </a:p>
          <a:p>
            <a:pPr marL="0" indent="0" algn="ctr">
              <a:buNone/>
            </a:pPr>
            <a:r>
              <a:rPr lang="fr-CA" sz="1620" noProof="0" dirty="0">
                <a:solidFill>
                  <a:srgbClr val="486581"/>
                </a:solidFill>
                <a:latin typeface="Calibri" pitchFamily="34" charset="0"/>
                <a:ea typeface="Calibri" pitchFamily="34" charset="-122"/>
                <a:cs typeface="Calibri" pitchFamily="34" charset="-120"/>
              </a:rPr>
              <a:t>son prix unitaire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L’inventaire</a:t>
            </a:r>
          </a:p>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Invariant du parcours : l'inventaire ne doit jamais devenir négatif. L'écran des opérations est le poste d'expérimentation.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Consommation</a:t>
            </a:r>
          </a:p>
          <a:p>
            <a:pPr marL="0" indent="0" algn="ctr">
              <a:buNone/>
            </a:pPr>
            <a:r>
              <a:rPr lang="fr-CA" sz="1620" noProof="0" dirty="0">
                <a:solidFill>
                  <a:srgbClr val="486581"/>
                </a:solidFill>
                <a:latin typeface="Calibri" pitchFamily="34" charset="0"/>
                <a:ea typeface="Calibri" pitchFamily="34" charset="-122"/>
                <a:cs typeface="Calibri" pitchFamily="34" charset="-120"/>
              </a:rPr>
              <a:t>Des évènements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Clé + Latence</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Rendre visible l'effet du parallélisme.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Rejeu</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Voir la progression et la reprise.</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Option Flink</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Alternative Flink pour le traitement.</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DÉCOUVRIR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CHEMIN KAFKA</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Suivre une requête(message) de bout en bout</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Chaque composante porte une responsabilité distincte; les frontières de validation viendront ensuite.</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Guide d'ingénierie Kafka · Projet EDA</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Démarrer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Conserver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Recevoir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et déléguer</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Traiter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en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a:t>
            </a:r>
            <a:r>
              <a:rPr lang="fr-CA" b="1" noProof="0" dirty="0">
                <a:solidFill>
                  <a:schemeClr val="accent1"/>
                </a:solidFill>
                <a:latin typeface="Calibri" pitchFamily="34" charset="0"/>
                <a:ea typeface="Calibri" pitchFamily="34" charset="-122"/>
                <a:cs typeface="Calibri" pitchFamily="34" charset="-120"/>
              </a:rPr>
              <a:t>Producteur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a:t>
            </a:r>
            <a:r>
              <a:rPr lang="fr-CA" b="1" noProof="0" dirty="0">
                <a:solidFill>
                  <a:srgbClr val="0F766E"/>
                </a:solidFill>
                <a:latin typeface="Calibri" pitchFamily="34" charset="0"/>
                <a:ea typeface="Calibri" pitchFamily="34" charset="-122"/>
                <a:cs typeface="Calibri" pitchFamily="34" charset="-120"/>
              </a:rPr>
              <a:t>Consommateur</a:t>
            </a:r>
            <a:endParaRPr lang="fr-CA" b="1" dirty="0">
              <a:solidFill>
                <a:srgbClr val="0F766E"/>
              </a:solidFill>
              <a:latin typeface="Calibri" pitchFamily="34" charset="0"/>
              <a:ea typeface="Calibri" pitchFamily="34" charset="-122"/>
              <a:cs typeface="Calibri" pitchFamily="34" charset="-120"/>
            </a:endParaRPr>
          </a:p>
          <a:p>
            <a:pPr marL="0" indent="0">
              <a:buNone/>
            </a:pPr>
            <a:r>
              <a:rPr lang="fr-CA" b="1" dirty="0">
                <a:solidFill>
                  <a:srgbClr val="0F766E"/>
                </a:solidFill>
                <a:latin typeface="Calibri" pitchFamily="34" charset="0"/>
                <a:ea typeface="Calibri" pitchFamily="34" charset="-122"/>
                <a:cs typeface="Calibri" pitchFamily="34" charset="-120"/>
              </a:rPr>
              <a:t>  MAJ: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Une requête reçue n'est pas immédiatement un effet métier validé.</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Publier</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les requêtes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Snapshots</a:t>
            </a:r>
          </a:p>
          <a:p>
            <a:pPr marL="0" indent="0" algn="ctr">
              <a:buNone/>
            </a:pPr>
            <a:r>
              <a:rPr lang="fr-CA" sz="1850" b="1" dirty="0">
                <a:solidFill>
                  <a:srgbClr val="1F6FEB"/>
                </a:solidFill>
                <a:latin typeface="Calibri" pitchFamily="34" charset="0"/>
                <a:ea typeface="Calibri" pitchFamily="34" charset="-122"/>
                <a:cs typeface="Calibri" pitchFamily="34" charset="-120"/>
              </a:rPr>
              <a:t>Périodiques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NORMALISATION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Normalisation des données</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transporte les messages d’un producteur. Un message possède une charge utile et des métadonnées. La normalisation ne doit pas dépendre de la technologie et doit être compréhensible par l’ensemble des consommateurs présents et futurs.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Normalisation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La normalisation vise à rendre accessible/compréhensible le message aux consommateurs</a:t>
            </a:r>
            <a:r>
              <a:rPr lang="fr-CA" sz="1720" dirty="0">
                <a:solidFill>
                  <a:srgbClr val="486581"/>
                </a:solidFill>
                <a:latin typeface="Calibri" pitchFamily="34" charset="0"/>
                <a:ea typeface="Calibri" pitchFamily="34" charset="-122"/>
                <a:cs typeface="Calibri" pitchFamily="34" charset="-120"/>
              </a:rPr>
              <a:t> – </a:t>
            </a:r>
            <a:r>
              <a:rPr lang="fr-CA" sz="1720" u="sng" dirty="0">
                <a:solidFill>
                  <a:srgbClr val="486581"/>
                </a:solidFill>
                <a:latin typeface="Calibri" pitchFamily="34" charset="0"/>
                <a:ea typeface="Calibri" pitchFamily="34" charset="-122"/>
                <a:cs typeface="Calibri" pitchFamily="34" charset="-120"/>
              </a:rPr>
              <a:t>Durable dans le temps.</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Métadonnées</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Permet au consommateur de connaître le contexte, d’obtenir l’identifiant unique. Alternative, Hash du payload … S’il y a un champ temporel.</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Intégrité</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consommateur doit pouvoir valider l’intégrité du message AVANT le traitement.</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Technologie</a:t>
            </a:r>
            <a:r>
              <a:rPr lang="fr-CA" sz="1550" b="1" noProof="0" dirty="0">
                <a:solidFill>
                  <a:srgbClr val="B45309"/>
                </a:solidFill>
                <a:latin typeface="Calibri" pitchFamily="34" charset="0"/>
                <a:ea typeface="Calibri" pitchFamily="34" charset="-122"/>
                <a:cs typeface="Calibri" pitchFamily="34" charset="-120"/>
              </a:rPr>
              <a:t>: les métadonnées ne doivent pas dépendre des fonctionnalités spécifiques d’un MOM.</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Très important.</a:t>
            </a:r>
            <a:r>
              <a:rPr lang="fr-CA" sz="1720" dirty="0">
                <a:solidFill>
                  <a:srgbClr val="486581"/>
                </a:solidFill>
                <a:latin typeface="Calibri" pitchFamily="34" charset="0"/>
                <a:ea typeface="Calibri" pitchFamily="34" charset="-122"/>
                <a:cs typeface="Calibri" pitchFamily="34" charset="-120"/>
              </a:rPr>
              <a: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Principe du « Zéro Trust ».</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Devrait être des UUID.</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pour un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CONCEPTION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Ni topic universel, ni multiplication sans intention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Il faut chercher un équilibre autour des agrégats, des responsabilités et des contrats.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topic pour des événements hétérogènes.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Risque : contrat flou et clé peu naturelle (ou impossible).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Complique exponentiellement la consommation des messages.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Des topics spécialisés par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Compromis : ordre inter-topics et exploitation.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Idéal pour la sélection d’une clé de partition.</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Par agrégat</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Une intention et un contrat explicites.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Regrouper les événements dont l'ordre est lié.</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Peut-être difficile de déterminer une bonne clé de partition.</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est un contrat intentionnel, pas seulement un tuyau de transport.</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topic Kafka … Les partitions allouent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topic organise les messages; la partition donne l'ordre (si clé); l'offset repère une position; le groupe partage le travail.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 positions propres à chaque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GROUPE DE CONSOMMATEURS</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L'ordre est garanti que dans une partition (si clé de partition), pas globalement entre toutes les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Processus/Thread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Consommateur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Reçoit aucun message.</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Sans clé ... Tous les Threads peuvent écrire sur le même enregistrement – Pas d’ordre.</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PARTITIONS CHAUDES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clé déséquilibrée peut neutraliser l’élasticité horizontale</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débit peut rester limité par une seule partition, même lorsque les autres consommateurs sont disponibles.</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SCHÉMA DE DÉSÉQUILIBRE</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Une clé dominante concentre le travail.</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Mesurer la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Observer le lag par partition, pas seulement son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Localiser le goulot</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Clé, verrou, base ou ressource externe.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Répartir davantage n'est utile que si l'ordre métier et les invariants restent préservés.</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Rebalance Kafka</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 pod inactif (sous actif) est retiré, causant un rebalance des partitions vers s’autres pods en continu ... Aïe !</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ORDRE PAR ENTITÉ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clé Kafka doit exprimer l'ordre métier recherché</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Dans le projet, la clé est « productId » permet un ordre des messages pour l'invariant de l'inventaire.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Sans clé</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même produit peut apparaître dans plusieurs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Plusieurs threads peuvent agir sur le même inventaire.</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productId » comme clé</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Les requêtes du produit rejoignent une même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Le chemin direct conserve un traitement séquentiel par produit.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Cependant, cet ordre ne permet pas d’adresser la synchronisation du </a:t>
            </a:r>
            <a:r>
              <a:rPr lang="fr-CA" sz="1750" u="sng" noProof="0" dirty="0">
                <a:solidFill>
                  <a:srgbClr val="486581"/>
                </a:solidFill>
                <a:latin typeface="Calibri" pitchFamily="34" charset="0"/>
                <a:ea typeface="Calibri" pitchFamily="34" charset="-122"/>
                <a:cs typeface="Calibri" pitchFamily="34" charset="-120"/>
              </a:rPr>
              <a:t>solde de la personne</a:t>
            </a:r>
            <a:r>
              <a:rPr lang="fr-CA" sz="1750" noProof="0" dirty="0">
                <a:solidFill>
                  <a:srgbClr val="486581"/>
                </a:solidFill>
                <a:latin typeface="Calibri" pitchFamily="34" charset="0"/>
                <a:ea typeface="Calibri" pitchFamily="34" charset="-122"/>
                <a:cs typeface="Calibri" pitchFamily="34" charset="-120"/>
              </a:rPr>
              <a:t>.</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Décision de conception : ordonner les événements là où le métier l'exige.</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RAPPORTS FOURNIS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seule option change; l'invariant peut basculer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Les deux rapports de la documentation du projet utilisent le même inventaire initial et les mêmes requêtes, avec ou sans clé.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AVEC CLÉ</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SANS CLÉ</a:t>
            </a:r>
            <a:r>
              <a:rPr lang="fr-CA" sz="1100" b="1" kern="0" spc="50" noProof="0" dirty="0">
                <a:solidFill>
                  <a:srgbClr val="B45309"/>
                </a:solidFill>
                <a:latin typeface="Calibri" pitchFamily="34" charset="0"/>
                <a:ea typeface="Calibri" pitchFamily="34" charset="-122"/>
                <a:cs typeface="Calibri" pitchFamily="34" charset="-120"/>
              </a:rPr>
              <a:t> </a:t>
            </a:r>
            <a:r>
              <a:rPr lang="fr-CA" sz="1600" b="1" kern="0" spc="50" noProof="0" dirty="0">
                <a:solidFill>
                  <a:srgbClr val="B45309"/>
                </a:solidFill>
                <a:latin typeface="Calibri" pitchFamily="34" charset="0"/>
                <a:ea typeface="Calibri" pitchFamily="34" charset="-122"/>
                <a:cs typeface="Calibri" pitchFamily="34" charset="-120"/>
              </a:rPr>
              <a:t>ou clé sur « personId »</a:t>
            </a:r>
            <a:r>
              <a:rPr lang="fr-CA" sz="1100" b="1" kern="0" spc="50" noProof="0" dirty="0">
                <a:solidFill>
                  <a:srgbClr val="B45309"/>
                </a:solidFill>
                <a:latin typeface="Calibri" pitchFamily="34" charset="0"/>
                <a:ea typeface="Calibri" pitchFamily="34" charset="-122"/>
                <a:cs typeface="Calibri" pitchFamily="34" charset="-120"/>
              </a:rPr>
              <a:t>.</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Résultat illustré : inventaire non négatif.</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Résultat illustré : survente silencieuse.</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Extraits documentaires : la comparaison doit porter sur les effets métier, pas seulement sur le flux des données.</a:t>
            </a:r>
            <a:endParaRPr lang="fr-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Protéger la personne et le produit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verrou Hazelcast est indexé sur PERSON_ID; la ligne INVENTORY est ordonnée par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A / Personne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Processus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Produit B / Personne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Personne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Verrou mémoire</a:t>
            </a:r>
            <a:r>
              <a:rPr lang="fr-CA" sz="1620" dirty="0">
                <a:solidFill>
                  <a:srgbClr val="486581"/>
                </a:solidFill>
                <a:latin typeface="Calibri" pitchFamily="34" charset="0"/>
                <a:ea typeface="Calibri" pitchFamily="34" charset="-122"/>
                <a:cs typeface="Calibri" pitchFamily="34" charset="-120"/>
              </a:rPr>
              <a:t> – personne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Une seule ligne pour le solde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La course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Lire le solde la personne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Vérifier le solde et le modifier.</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Deux traitements peuvent passer la même vérification du solde.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Ajouter « personId » à la clé actuelle ne va pas fonctionner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 périmètre d'une protection doit correspondre à l'invariant qu'elle cherche à protéger.</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COMPRENDRE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CONCURRENCE DU SANDBOX</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Protéger PERSON ou INVENTORY via verrouillage SQL</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L’approche SQL ... Alternative qui ne permet pas de conserver l’ordonnancement.</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Verrouillage pessimiste</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Verrouiller la ligne à la lecture pour que les autres attendent. En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Processus en attente de la base de données</a:t>
            </a:r>
            <a:r>
              <a:rPr lang="fr-CA" sz="1750" noProof="0" dirty="0">
                <a:solidFill>
                  <a:srgbClr val="486581"/>
                </a:solidFill>
                <a:latin typeface="Calibri" pitchFamily="34" charset="0"/>
                <a:ea typeface="Calibri" pitchFamily="34" charset="-122"/>
                <a:cs typeface="Calibri" pitchFamily="34" charset="-120"/>
              </a:rPr>
              <a:t>. « sleep mode ». </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Plus d’élasticité et impact sur le cycle de vie d’un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Verrouillage optimiste</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Une colonne @Version ; la mise à jour ne réussit </a:t>
            </a:r>
            <a:r>
              <a:rPr lang="fr-CA" sz="1600" dirty="0">
                <a:solidFill>
                  <a:srgbClr val="486581"/>
                </a:solidFill>
                <a:latin typeface="Calibri" pitchFamily="34" charset="0"/>
                <a:ea typeface="Calibri" pitchFamily="34" charset="-122"/>
                <a:cs typeface="Calibri" pitchFamily="34" charset="-120"/>
              </a:rPr>
              <a:t>que</a:t>
            </a:r>
            <a:r>
              <a:rPr lang="fr-CA" sz="1750" dirty="0">
                <a:solidFill>
                  <a:srgbClr val="486581"/>
                </a:solidFill>
                <a:latin typeface="Calibri" pitchFamily="34" charset="0"/>
                <a:ea typeface="Calibri" pitchFamily="34" charset="-122"/>
                <a:cs typeface="Calibri" pitchFamily="34" charset="-120"/>
              </a:rPr>
              <a:t> si la version est inchangée, </a:t>
            </a:r>
            <a:r>
              <a:rPr lang="fr-CA" sz="1750" u="sng" dirty="0">
                <a:solidFill>
                  <a:srgbClr val="486581"/>
                </a:solidFill>
                <a:latin typeface="Calibri" pitchFamily="34" charset="0"/>
                <a:ea typeface="Calibri" pitchFamily="34" charset="-122"/>
                <a:cs typeface="Calibri" pitchFamily="34" charset="-120"/>
              </a:rPr>
              <a:t>sinon l'application doit refaire une tentative.</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Tourne en rond ... Consomme les ressources $$$. Lutte entre les pods (Processus/Thread) !!!</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Mise à jour conditionnelle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Déléguer la vérification du solde dans l'écriture de la base de données (where clause). </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La logique métier descend dans la requête SQL</a:t>
            </a:r>
            <a:r>
              <a:rPr lang="fr-CA" sz="3400" dirty="0">
                <a:solidFill>
                  <a:srgbClr val="486581"/>
                </a:solidFill>
                <a:latin typeface="Calibri" pitchFamily="34" charset="0"/>
                <a:ea typeface="Calibri" pitchFamily="34" charset="-122"/>
                <a:cs typeface="Calibri" pitchFamily="34" charset="-120"/>
              </a:rPr>
              <a:t> – Brise la cache JPA.</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Protège seulement les invariants explicitement de la garde sans protéger automatiquement l'ensemble de l'entité contre toutes les modifications concurrentes.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Brise l’élasticité</a:t>
            </a:r>
            <a:r>
              <a:rPr lang="fr-CA" sz="1550" b="1" dirty="0">
                <a:solidFill>
                  <a:srgbClr val="B45309"/>
                </a:solidFill>
                <a:latin typeface="Calibri" pitchFamily="34" charset="0"/>
                <a:ea typeface="Calibri" pitchFamily="34" charset="-122"/>
                <a:cs typeface="Calibri" pitchFamily="34" charset="-120"/>
              </a:rPr>
              <a:t> horizontale, génère du DLT, consomme des ressources et peut causer des reprises à répétition. </a:t>
            </a:r>
          </a:p>
          <a:p>
            <a:pPr marL="0" indent="0">
              <a:buNone/>
            </a:pPr>
            <a:r>
              <a:rPr lang="fr-CA" sz="1550" b="1" dirty="0">
                <a:solidFill>
                  <a:srgbClr val="B45309"/>
                </a:solidFill>
                <a:latin typeface="Calibri" pitchFamily="34" charset="0"/>
                <a:ea typeface="Calibri" pitchFamily="34" charset="-122"/>
                <a:cs typeface="Calibri" pitchFamily="34" charset="-120"/>
              </a:rPr>
              <a:t>Cette alternative ne permet pas de conserver l’ordonnancement !!!</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SÉMANTIQUES DE LIVRAISON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garanties, mais toujours une frontière à préciser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question n'est pas seulement combien de fois un message arrive, mais quels effets deviennent visibles.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Garantie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Compromis</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la position avant le traitement.</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Une perte est possible et va survenir !!!</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Valider après le travail réussi.</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Des doublons sont possibles. Il faut mettre en </a:t>
            </a:r>
            <a:r>
              <a:rPr lang="fr-CA" sz="1600" dirty="0">
                <a:solidFill>
                  <a:srgbClr val="486581"/>
                </a:solidFill>
                <a:latin typeface="Calibri" pitchFamily="34" charset="0"/>
                <a:ea typeface="Calibri" pitchFamily="34" charset="-122"/>
                <a:cs typeface="Calibri" pitchFamily="34" charset="-120"/>
              </a:rPr>
              <a:t>place l'idempotence.</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Résultats Kafka </a:t>
            </a:r>
          </a:p>
          <a:p>
            <a:pPr marL="0" indent="0">
              <a:buNone/>
            </a:pPr>
            <a:r>
              <a:rPr lang="fr-CA" sz="1600" dirty="0">
                <a:solidFill>
                  <a:srgbClr val="486581"/>
                </a:solidFill>
                <a:latin typeface="Calibri" pitchFamily="34" charset="0"/>
                <a:ea typeface="Calibri" pitchFamily="34" charset="-122"/>
                <a:cs typeface="Calibri" pitchFamily="34" charset="-120"/>
              </a:rPr>
              <a:t>et </a:t>
            </a:r>
            <a:r>
              <a:rPr lang="fr-CA" sz="1600" noProof="0" dirty="0">
                <a:solidFill>
                  <a:srgbClr val="486581"/>
                </a:solidFill>
                <a:latin typeface="Calibri" pitchFamily="34" charset="0"/>
                <a:ea typeface="Calibri" pitchFamily="34" charset="-122"/>
                <a:cs typeface="Calibri" pitchFamily="34" charset="-120"/>
              </a:rPr>
              <a:t>offsets sources atomiques.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Les effets externes ne sont pas inclus.</a:t>
            </a:r>
            <a:r>
              <a:rPr lang="fr-CA" sz="1600" u="sng" noProof="0" dirty="0">
                <a:solidFill>
                  <a:srgbClr val="486581"/>
                </a:solidFill>
                <a:latin typeface="Calibri" pitchFamily="34" charset="0"/>
                <a:ea typeface="Calibri" pitchFamily="34" charset="-122"/>
                <a:cs typeface="Calibri" pitchFamily="34" charset="-120"/>
              </a:rPr>
              <a:t> </a:t>
            </a:r>
            <a:r>
              <a:rPr lang="fr-CA" sz="1600" noProof="0" dirty="0">
                <a:solidFill>
                  <a:srgbClr val="486581"/>
                </a:solidFill>
                <a:latin typeface="Calibri" pitchFamily="34" charset="0"/>
                <a:ea typeface="Calibri" pitchFamily="34" charset="-122"/>
                <a:cs typeface="Calibri" pitchFamily="34" charset="-120"/>
              </a:rPr>
              <a:t>Att: checkpoint !</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Choix du projet Sandbox : at-least-once + idempotence du traitement métier.</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FIABILISER LES EFFETS</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PUBLICATION ET VISIBILITÉ KAFKA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Trois mécanismes différents travaillent ensemble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Idempotence du producteur, transaction Kafka et isolation du consommateur ne répondent pas à la même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Producteur idempotent</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Éviter les doublons dus aux nouvelles tentatives du producteur.</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Transaction Kafka</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Valider ou annuler un ensemble de publications dans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Consommateur isolé</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Messages transactionnels : lire seulement après validation.</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r>
              <a:rPr lang="en-US" sz="1750" b="1" dirty="0">
                <a:solidFill>
                  <a:srgbClr val="C00000"/>
                </a:solidFill>
                <a:latin typeface="Calibri" pitchFamily="34" charset="0"/>
                <a:ea typeface="Calibri" pitchFamily="34" charset="-122"/>
                <a:cs typeface="Calibri" pitchFamily="34" charset="-120"/>
              </a:rPr>
              <a:t>=</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Ces mécanismes Kafka ne remplacent pas l'atomicité ni l'idempotence de l'effet SQL.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COMMIT SQL ET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commit métier doit précéder l'acquittement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entre les deux validations provoque une relivraison : c'est précisément le rôle de l'idempotence.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Lire le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Traiter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Transaction SQL</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Fenêtre de panne</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L'offset </a:t>
            </a:r>
          </a:p>
          <a:p>
            <a:pPr marL="0" indent="0" algn="ctr">
              <a:buNone/>
            </a:pPr>
            <a:r>
              <a:rPr lang="fr-CA" noProof="0" dirty="0">
                <a:solidFill>
                  <a:srgbClr val="486581"/>
                </a:solidFill>
                <a:latin typeface="Calibri" pitchFamily="34" charset="0"/>
                <a:ea typeface="Calibri" pitchFamily="34" charset="-122"/>
                <a:cs typeface="Calibri" pitchFamily="34" charset="-120"/>
              </a:rPr>
              <a:t>n'a pas avancé</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Acquitter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avant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métier peut être perdu.</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Pas de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a:t>
            </a:r>
            <a:r>
              <a:rPr lang="fr-CA" sz="1650" noProof="0" dirty="0">
                <a:solidFill>
                  <a:srgbClr val="486581"/>
                </a:solidFill>
                <a:latin typeface="Calibri" pitchFamily="34" charset="0"/>
                <a:ea typeface="Calibri" pitchFamily="34" charset="-122"/>
                <a:cs typeface="Calibri" pitchFamily="34" charset="-120"/>
              </a:rPr>
              <a:t> – Pas de relivraison.</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avant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Risque : l'effet peut être tenté de nouveau.</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Panne/Arrêt – Relivraison.</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Relivraison.</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doublon de livraison doit devenir un non-événement pour les données – Le traitement DOIT ÊTRE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Reconnaître l'événement (le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 même événement livré plusieurs fois ne doit appliquer l'effet métier qu'une seule fois.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UNE TRANSACTION SQL</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Vérifier / enregistrer l'identité</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Appliquer puis enregistrer l'issue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solde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Marqueur de déduplication et effets métier : valider ensemble, ou annuler ensemble.</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Vérifier </a:t>
            </a:r>
          </a:p>
          <a:p>
            <a:pPr marL="0" indent="0">
              <a:buNone/>
            </a:pPr>
            <a:r>
              <a:rPr lang="fr-CA" sz="1720" noProof="0" dirty="0">
                <a:solidFill>
                  <a:srgbClr val="486581"/>
                </a:solidFill>
                <a:latin typeface="Calibri" pitchFamily="34" charset="0"/>
                <a:ea typeface="Calibri" pitchFamily="34" charset="-122"/>
                <a:cs typeface="Calibri" pitchFamily="34" charset="-120"/>
              </a:rPr>
              <a:t>l’</a:t>
            </a:r>
            <a:r>
              <a:rPr lang="fr-CA" sz="172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Une seule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Référence de la journalisation pour la mise à jour.</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Afin ... Début de la logique d’affaires.</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Une contrainte d'unicité reste l'autorité de déduplication face à la concurrence. Il ne constitue pas le commit. Garder distincts l'identité, le type de traitement et son résultat.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FIABILISER LES EFFETS</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RÉ-ESSAI / DLT / REJEU</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erreur doit suivre un parcours explicite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Réessayer un incident transitoire, isoler un échec persistant, puis organiser un rejeu contrôlé.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Échec</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Identifier la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Ré-essai borné</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Attendre puis réessayer</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Topic des échecs</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Rejeu</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Après analyse et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Procédure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Comment faire le rejeu … Un message en DLT n’est pas un état final.</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Une DLT doit avoir un responsable et une procédure de traitement (Ne pas transformer le DLT en oubliette).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Contexte</a:t>
            </a:r>
          </a:p>
          <a:p>
            <a:pPr marL="0" indent="0" algn="ctr">
              <a:buNone/>
            </a:pPr>
            <a:r>
              <a:rPr lang="fr-CA" sz="1900" noProof="0" dirty="0">
                <a:solidFill>
                  <a:srgbClr val="102A43"/>
                </a:solidFill>
                <a:latin typeface="Calibri" pitchFamily="34" charset="0"/>
                <a:ea typeface="Calibri" pitchFamily="34" charset="-122"/>
                <a:cs typeface="Calibri" pitchFamily="34" charset="-120"/>
              </a:rPr>
              <a:t>Identité de l'événement, topic, partition, offset et cause de l'échec.</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DEUX CHEMINS DU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 le transport, pas l'intention métier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bouton Flink permet de choisit le topic de publication; les deux chemins convergent vers le même traitement.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 direct</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Chemin Flink</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même effet SQL, mais des frontières de progression et de reprise différentes.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Métier</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EXPLORER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ET EFFET EXTERNE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checkpoint Flink n'est pas un commit SQL</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dernier checkpoint terminé fixe le point de reprise Flink, pas l'état déjà validé dans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CHEMIN DIRECT</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CHEMIN FLINK</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puis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Reprise depuis le dernier checkpoint terminé</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 l'idempotence doit aussi être considérée pour les compteurs et les effets secondaires (Voir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EXPLORER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LIMITES EXPLICITES DU GUIDE</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pont in-JVM n'est pas une intégration distribuée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Un TaskManager distant ne partage ni les beans Spring, ni les repositories JPA, ni l'état statique de l'application.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Sandbox local</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et Spring partagent une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pont résout le service à l'exécution.</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Le chemin value-only abandonne clés et en-têtes.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Architecture distribuée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Séparer les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Partager des règles Java, pas des beans actifs.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Choisir un connecteur ou un contrat distant.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Choisir le modèle de déploiement avant de choisir le mode d'intégration.</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Le nombre de partitions fixe les limites de l’élasticité horizontale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Ajouter des pods n'ajoute du parallélisme que s'il reste des partitions à leur attribuer.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Parallélisme utile = min(partitions, pods × threads par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Exemple :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demandés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Threads actifs au maximum</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threads inactifs)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Les threads excédentaires ne créent ni partitions ni capacité utile.</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Latence et Lag … La bête noire de l’EDA</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Deux mesures complémentaires : le lag indique un retard en volume; la latence indique l’impact temporel réel.</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LATENCE ET LAG EDA</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À retenir : Lag </a:t>
            </a:r>
            <a:r>
              <a:rPr lang="fr-CA" sz="1550" b="1" dirty="0">
                <a:solidFill>
                  <a:srgbClr val="102A43"/>
                </a:solidFill>
                <a:latin typeface="Calibri" pitchFamily="34" charset="0"/>
                <a:ea typeface="Calibri" pitchFamily="34" charset="-122"/>
                <a:cs typeface="Calibri" pitchFamily="34" charset="-120"/>
              </a:rPr>
              <a:t>= Retard en volume messages/offsets. Latence = Retard dans le temps de traitement. Corrélés, mais non équivalents.</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Dernier offset disponible </a:t>
            </a:r>
            <a:r>
              <a:rPr lang="fr-CA" sz="1600" b="1" noProof="0" dirty="0">
                <a:solidFill>
                  <a:srgbClr val="F2994A"/>
                </a:solidFill>
              </a:rPr>
              <a:t>Dernier</a:t>
            </a:r>
            <a:r>
              <a:rPr lang="fr-CA" sz="1200" b="1" noProof="0" dirty="0">
                <a:solidFill>
                  <a:srgbClr val="F2994A"/>
                </a:solidFill>
              </a:rPr>
              <a:t> offset ACK</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Latence E2E = temps entre production et traitement complété</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PRODUCTEUR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CONSOMMATEUR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TRAITEMENT</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RÉÉQUILIBRAGE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Changer les consommateurs change la propriété des partitions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Élasticité, redémarrage et défaillance font partie du fonctionnement normal d'un groupe.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Déclencheurs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Un pod arrive.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pod s'arrête.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consommateur dépasse un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Réaffectation des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Interruption possible et reprise depuis la position validée.</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Traitement idempotent.</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Lots et timeouts adaptés.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Élasticité stabilisée.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Stratégie de groupe adaptée.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système élastique doit savoir changer de propriétaire sans corrompre l'état.</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Réaffectation des partitions</a:t>
            </a:r>
          </a:p>
          <a:p>
            <a:pPr algn="ctr"/>
            <a:r>
              <a:rPr lang="fr-CA" sz="1900" noProof="0" dirty="0">
                <a:solidFill>
                  <a:srgbClr val="102A43"/>
                </a:solidFill>
                <a:latin typeface="Calibri" pitchFamily="34" charset="0"/>
                <a:ea typeface="Calibri" pitchFamily="34" charset="-122"/>
                <a:cs typeface="Calibri" pitchFamily="34" charset="-120"/>
              </a:rPr>
              <a:t>La réaffectation va acheminer des reprises (doublons).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t>
            </a:r>
            <a:r>
              <a:rPr lang="fr-CA" sz="2700" b="1" dirty="0">
                <a:solidFill>
                  <a:srgbClr val="102A43"/>
                </a:solidFill>
                <a:latin typeface="Calibri" pitchFamily="34" charset="0"/>
                <a:ea typeface="Calibri" pitchFamily="34" charset="-122"/>
                <a:cs typeface="Calibri" pitchFamily="34" charset="-120"/>
              </a:rPr>
              <a:t>élasticité </a:t>
            </a:r>
            <a:r>
              <a:rPr lang="fr-CA" sz="2700" b="1" noProof="0" dirty="0">
                <a:solidFill>
                  <a:srgbClr val="102A43"/>
                </a:solidFill>
                <a:latin typeface="Calibri" pitchFamily="34" charset="0"/>
                <a:ea typeface="Calibri" pitchFamily="34" charset="-122"/>
                <a:cs typeface="Calibri" pitchFamily="34" charset="-120"/>
              </a:rPr>
              <a:t>horizontale EKS/EDA</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L’élasticité horizontale des consommateurs EDA </a:t>
            </a:r>
            <a:r>
              <a:rPr lang="fr-CA" sz="1650" u="sng" noProof="0" dirty="0">
                <a:solidFill>
                  <a:srgbClr val="486581"/>
                </a:solidFill>
                <a:latin typeface="Calibri" pitchFamily="34" charset="0"/>
                <a:ea typeface="Calibri" pitchFamily="34" charset="-122"/>
                <a:cs typeface="Calibri" pitchFamily="34" charset="-120"/>
              </a:rPr>
              <a:t>repose sur la connaissance du LAG</a:t>
            </a:r>
            <a:r>
              <a:rPr lang="fr-CA" sz="1650" dirty="0">
                <a:solidFill>
                  <a:srgbClr val="486581"/>
                </a:solidFill>
                <a:latin typeface="Calibri" pitchFamily="34" charset="0"/>
                <a:ea typeface="Calibri" pitchFamily="34" charset="-122"/>
                <a:cs typeface="Calibri" pitchFamily="34" charset="-120"/>
              </a:rPr>
              <a:t>.</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Services externes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Disponible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gère les instances machine, KEDA le lag et la consommation.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ÉLASTICITÉ SUR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EXPLOITER ET DISTRIBUER</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Élasticité horizontale</a:t>
            </a:r>
          </a:p>
          <a:p>
            <a:pPr algn="ctr"/>
            <a:r>
              <a:rPr lang="fr-CA" sz="1900" dirty="0">
                <a:solidFill>
                  <a:srgbClr val="102A43"/>
                </a:solidFill>
                <a:latin typeface="Calibri" pitchFamily="34" charset="0"/>
                <a:ea typeface="Calibri" pitchFamily="34" charset="-122"/>
                <a:cs typeface="Calibri" pitchFamily="34" charset="-120"/>
              </a:rPr>
              <a:t>HPA CPU/mémoire échoue : lag élevé sans CPU élevé, plafond de partitions ignoré, pas de d'élasticité-à-zéro</a:t>
            </a:r>
            <a:r>
              <a:rPr lang="fr-CA" sz="1900" noProof="0" dirty="0">
                <a:solidFill>
                  <a:srgbClr val="102A43"/>
                </a:solidFill>
                <a:latin typeface="Calibri" pitchFamily="34" charset="0"/>
                <a:ea typeface="Calibri" pitchFamily="34" charset="-122"/>
                <a:cs typeface="Calibri" pitchFamily="34" charset="-120"/>
              </a:rPr>
              <a:t>.</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PILOTAGE DU LISTENER KAFKA</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Mettre en pause n'est pas arrêter le consommateur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Pour suspendre temporairement le travail sans quitter le groupe, le sandbox utilise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Consommation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Appartenance au groupe</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Suspendre la consommation.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consommateur reste membre.</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Reprendre la consommation.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même instance continue.</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Arrêter le conteneur.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La sortie déclenche un rebalance (reprises possibles).</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 pause légère du conteneur. Flink/Sandbox : arrêt avec savepoint (checkpoint). Un rebalance déclenche des reprises !!! </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Une console pour contrôler les opérations n’est pas une option !!!</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Démarrer le conteneur.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L’entré déclenche un rebalance (reprises possibles).</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ARRÊT GRACIEUX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L'arrêt fait partie des ajustements du système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temps de grâce doit permettre de terminer le travail en cours et de fermer les ressources dans le bon ordre.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Retirer le trafic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L'arrêt propre réduit les reprises; l'idempotence rend les reprises possibles.</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Signaler l’arrêt</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Terminer</a:t>
            </a:r>
          </a:p>
          <a:p>
            <a:pPr marL="0" indent="0" algn="ctr">
              <a:buNone/>
            </a:pPr>
            <a:r>
              <a:rPr lang="fr-CA" sz="2000" b="1" dirty="0">
                <a:solidFill>
                  <a:srgbClr val="102A43"/>
                </a:solidFill>
                <a:latin typeface="Calibri" pitchFamily="34" charset="0"/>
                <a:ea typeface="Calibri" pitchFamily="34" charset="-122"/>
                <a:cs typeface="Calibri" pitchFamily="34" charset="-120"/>
              </a:rPr>
              <a:t>l’en-cours</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Fermer</a:t>
            </a:r>
          </a:p>
          <a:p>
            <a:pPr marL="0" indent="0" algn="ctr">
              <a:buNone/>
            </a:pPr>
            <a:r>
              <a:rPr lang="fr-CA" sz="2000" b="1" noProof="0" dirty="0">
                <a:solidFill>
                  <a:srgbClr val="102A43"/>
                </a:solidFill>
                <a:latin typeface="Calibri" pitchFamily="34" charset="0"/>
                <a:ea typeface="Calibri" pitchFamily="34" charset="-122"/>
                <a:cs typeface="Calibri" pitchFamily="34" charset="-120"/>
              </a:rPr>
              <a:t>les ressources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Avant la fin de grâce</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Arrêt en cours.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l'arrêt gracieux est une </a:t>
            </a:r>
          </a:p>
          <a:p>
            <a:pPr algn="ctr"/>
            <a:r>
              <a:rPr lang="fr-CA" sz="1900" dirty="0">
                <a:solidFill>
                  <a:srgbClr val="C00000"/>
                </a:solidFill>
                <a:latin typeface="Calibri" pitchFamily="34" charset="0"/>
                <a:ea typeface="Calibri" pitchFamily="34" charset="-122"/>
                <a:cs typeface="Calibri" pitchFamily="34" charset="-120"/>
              </a:rPr>
              <a:t>exigence critique, pas une optimisation optionnelle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EXPLOITER ET DISTRIBUER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SONDES ET DISPONIBILITÉ</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Trois sondes répondent à trois questions différentes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Une panne d'accès au service et un processus irrécupérable ne demandent pas la même réaction.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démarrage terminé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Ne pas juger trop tôt une JVM en initialisation.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Le processus est-il sain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peut provoquer son redémarrage.</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Peut-il recevoir du trafic ?</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Un échec retire le pod des </a:t>
            </a:r>
            <a:r>
              <a:rPr lang="fr-CA" sz="1750" noProof="1">
                <a:solidFill>
                  <a:srgbClr val="486581"/>
                </a:solidFill>
                <a:latin typeface="Calibri" pitchFamily="34" charset="0"/>
                <a:ea typeface="Calibri" pitchFamily="34" charset="-122"/>
                <a:cs typeface="Calibri" pitchFamily="34" charset="-120"/>
              </a:rPr>
              <a:t>endpoints</a:t>
            </a:r>
            <a:r>
              <a:rPr lang="fr-CA" sz="1750" noProof="0" dirty="0">
                <a:solidFill>
                  <a:srgbClr val="486581"/>
                </a:solidFill>
                <a:latin typeface="Calibri" pitchFamily="34" charset="0"/>
                <a:ea typeface="Calibri" pitchFamily="34" charset="-122"/>
                <a:cs typeface="Calibri" pitchFamily="34" charset="-120"/>
              </a:rPr>
              <a:t> du service.</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Santé : une décision rapide. Métriques : une mesure de comportement dans le temps.</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Fichier : </a:t>
            </a:r>
            <a:r>
              <a:rPr lang="fr-CA" sz="1720" noProof="1">
                <a:solidFill>
                  <a:srgbClr val="486581"/>
                </a:solidFill>
                <a:latin typeface="Calibri" pitchFamily="34" charset="0"/>
                <a:ea typeface="Calibri" pitchFamily="34" charset="-122"/>
                <a:cs typeface="Calibri" pitchFamily="34" charset="-120"/>
              </a:rPr>
              <a:t>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Pour les producteurs et consommateurs Kafka. </a:t>
            </a:r>
          </a:p>
          <a:p>
            <a:pPr algn="ctr"/>
            <a:r>
              <a:rPr lang="fr-CA" sz="1900" dirty="0">
                <a:solidFill>
                  <a:srgbClr val="C00000"/>
                </a:solidFill>
                <a:latin typeface="Calibri" pitchFamily="34" charset="0"/>
                <a:ea typeface="Calibri" pitchFamily="34" charset="-122"/>
                <a:cs typeface="Calibri" pitchFamily="34" charset="-120"/>
              </a:rPr>
              <a:t>La gestion de l’état interne est une exigence critique</a:t>
            </a:r>
            <a:r>
              <a:rPr lang="fr-CA" sz="1900" noProof="0" dirty="0">
                <a:solidFill>
                  <a:srgbClr val="C00000"/>
                </a:solidFill>
                <a:latin typeface="Calibri" pitchFamily="34" charset="0"/>
                <a:ea typeface="Calibri" pitchFamily="34" charset="-122"/>
                <a:cs typeface="Calibri" pitchFamily="34" charset="-120"/>
              </a:rPr>
              <a: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GOUVERNANCE DES TOPICS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contrat transforme un topic en une interface compréhensible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gouvernance rend explicites le sens des données, les responsabilités et les conditions de leur usage.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Sens métier</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Définition et exemples d'événements.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Propriété</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Équipe responsable et soutien.</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Schéma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et règles de compatibilité.</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Dépendances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Producteurs, consommateurs et lignage.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Fraîcheur, disponibilité et qualité.</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Accès, classification et rétention.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Un topic sans contrat ni responsable crée une dépendance difficile à exploiter.</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La propriété et la plateforme sont complémentaires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guide ne présente pas Data </a:t>
            </a:r>
            <a:r>
              <a:rPr lang="fr-CA" sz="1650" noProof="1">
                <a:solidFill>
                  <a:srgbClr val="486581"/>
                </a:solidFill>
                <a:latin typeface="Calibri" pitchFamily="34" charset="0"/>
                <a:ea typeface="Calibri" pitchFamily="34" charset="-122"/>
                <a:cs typeface="Calibri" pitchFamily="34" charset="-120"/>
              </a:rPr>
              <a:t>Mesh</a:t>
            </a:r>
            <a:r>
              <a:rPr lang="fr-CA" sz="1650" noProof="0" dirty="0">
                <a:solidFill>
                  <a:srgbClr val="486581"/>
                </a:solidFill>
                <a:latin typeface="Calibri" pitchFamily="34" charset="0"/>
                <a:ea typeface="Calibri" pitchFamily="34" charset="-122"/>
                <a:cs typeface="Calibri" pitchFamily="34" charset="-120"/>
              </a:rPr>
              <a:t> et Data </a:t>
            </a:r>
            <a:r>
              <a:rPr lang="fr-CA" sz="1650" noProof="1">
                <a:solidFill>
                  <a:srgbClr val="486581"/>
                </a:solidFill>
                <a:latin typeface="Calibri" pitchFamily="34" charset="0"/>
                <a:ea typeface="Calibri" pitchFamily="34" charset="-122"/>
                <a:cs typeface="Calibri" pitchFamily="34" charset="-120"/>
              </a:rPr>
              <a:t>Fabric</a:t>
            </a:r>
            <a:r>
              <a:rPr lang="fr-CA" sz="1650" noProof="0" dirty="0">
                <a:solidFill>
                  <a:srgbClr val="486581"/>
                </a:solidFill>
                <a:latin typeface="Calibri" pitchFamily="34" charset="0"/>
                <a:ea typeface="Calibri" pitchFamily="34" charset="-122"/>
                <a:cs typeface="Calibri" pitchFamily="34" charset="-120"/>
              </a:rPr>
              <a:t> comme deux produits concurrents.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Mesh</a:t>
            </a:r>
            <a:r>
              <a:rPr lang="fr-CA" sz="2000" b="1" noProof="0" dirty="0">
                <a:solidFill>
                  <a:srgbClr val="102A43"/>
                </a:solidFill>
                <a:latin typeface="Calibri" pitchFamily="34" charset="0"/>
                <a:ea typeface="Calibri" pitchFamily="34" charset="-122"/>
                <a:cs typeface="Calibri" pitchFamily="34" charset="-120"/>
              </a:rPr>
              <a:t> : qui et pourquoi ?</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Propriété par domaine.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Données comme produit.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Plateforme libre-service.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Gouvernance fédérée.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a:t>
            </a:r>
            <a:r>
              <a:rPr lang="fr-CA" sz="2000" b="1" noProof="1">
                <a:solidFill>
                  <a:srgbClr val="102A43"/>
                </a:solidFill>
                <a:latin typeface="Calibri" pitchFamily="34" charset="0"/>
                <a:ea typeface="Calibri" pitchFamily="34" charset="-122"/>
                <a:cs typeface="Calibri" pitchFamily="34" charset="-120"/>
              </a:rPr>
              <a:t>Fabric</a:t>
            </a:r>
            <a:r>
              <a:rPr lang="fr-CA" sz="2000" b="1" noProof="0" dirty="0">
                <a:solidFill>
                  <a:srgbClr val="102A43"/>
                </a:solidFill>
                <a:latin typeface="Calibri" pitchFamily="34" charset="0"/>
                <a:ea typeface="Calibri" pitchFamily="34" charset="-122"/>
                <a:cs typeface="Calibri" pitchFamily="34" charset="-120"/>
              </a:rPr>
              <a:t> : comment relier ?</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Intégration et connecteurs.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Catalogue et lignage.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Politiques et qualité.</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Accès et observabilité partagés.</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peut soutenir ces approches; il ne remplace ni la propriété ni la gouvernance.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DES DONNÉES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 message consommé ne prouve pas que l'état est juste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corroboration compare des représentations des mêmes faits et recherche les divergences.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Quantités, opérations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et résultats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Effet cumulé</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des traitements</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Inventaire et soldes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à comparer</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Contrôle concret : les requêtes exécutées se réconcilient-elles </a:t>
            </a:r>
          </a:p>
          <a:p>
            <a:pPr marL="0" indent="0" algn="ctr">
              <a:buNone/>
            </a:pPr>
            <a:r>
              <a:rPr lang="fr-CA" sz="2100" b="1" noProof="0" dirty="0">
                <a:solidFill>
                  <a:srgbClr val="102A43"/>
                </a:solidFill>
                <a:latin typeface="Calibri" pitchFamily="34" charset="0"/>
                <a:ea typeface="Calibri" pitchFamily="34" charset="-122"/>
                <a:cs typeface="Calibri" pitchFamily="34" charset="-120"/>
              </a:rPr>
              <a:t>avec les mouvements de l’inventaires et le solde du client ?</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 ne pas appliquer deux fois. Corroboration : vérifier le résultat global (l’intégrité</a:t>
            </a:r>
            <a:r>
              <a:rPr lang="fr-CA" sz="1550" b="1" dirty="0">
                <a:solidFill>
                  <a:srgbClr val="102A43"/>
                </a:solidFill>
                <a:latin typeface="Calibri" pitchFamily="34" charset="0"/>
                <a:ea typeface="Calibri" pitchFamily="34" charset="-122"/>
                <a:cs typeface="Calibri" pitchFamily="34" charset="-120"/>
              </a:rPr>
              <a:t>)</a:t>
            </a:r>
            <a:r>
              <a:rPr lang="fr-CA" sz="1550" b="1" noProof="0" dirty="0">
                <a:solidFill>
                  <a:srgbClr val="102A43"/>
                </a:solidFill>
                <a:latin typeface="Calibri" pitchFamily="34" charset="0"/>
                <a:ea typeface="Calibri" pitchFamily="34" charset="-122"/>
                <a:cs typeface="Calibri" pitchFamily="34" charset="-120"/>
              </a:rPr>
              <a:t>.</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STRATÉGIE DE CORROBORATION</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Corroboration des données en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La livraison d'un événement ne garantit jamais que les systèmes restent cohérents entre eux.</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Réparer sans perdre la piste d'audit; rejouer sans réappliquer les effets en double.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Fréquent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Comptages des résultats.</a:t>
            </a:r>
            <a:endParaRPr lang="fr-CA" sz="1600" dirty="0"/>
          </a:p>
          <a:p>
            <a:r>
              <a:rPr lang="fr-CA" sz="1600" dirty="0">
                <a:solidFill>
                  <a:srgbClr val="486581"/>
                </a:solidFill>
                <a:latin typeface="Calibri" pitchFamily="34" charset="0"/>
                <a:ea typeface="Calibri" pitchFamily="34" charset="-122"/>
                <a:cs typeface="Calibri" pitchFamily="34" charset="-120"/>
              </a:rPr>
              <a:t>Sommes de contrôle.</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Périodique</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Snapshots d'état.</a:t>
            </a:r>
            <a:endParaRPr lang="fr-CA" sz="1600" dirty="0"/>
          </a:p>
          <a:p>
            <a:r>
              <a:rPr lang="fr-CA" sz="1600" dirty="0">
                <a:solidFill>
                  <a:srgbClr val="486581"/>
                </a:solidFill>
                <a:latin typeface="Calibri" pitchFamily="34" charset="0"/>
                <a:ea typeface="Calibri" pitchFamily="34" charset="-122"/>
                <a:cs typeface="Calibri" pitchFamily="34" charset="-120"/>
              </a:rPr>
              <a:t>Invariants métier.</a:t>
            </a:r>
            <a:endParaRPr lang="fr-CA" sz="1600" dirty="0"/>
          </a:p>
          <a:p>
            <a:r>
              <a:rPr lang="fr-CA" sz="1600" dirty="0">
                <a:solidFill>
                  <a:srgbClr val="486581"/>
                </a:solidFill>
                <a:latin typeface="Calibri" pitchFamily="34" charset="0"/>
                <a:ea typeface="Calibri" pitchFamily="34" charset="-122"/>
                <a:cs typeface="Calibri" pitchFamily="34" charset="-120"/>
              </a:rPr>
              <a:t>Comparaison attendu/réel</a:t>
            </a:r>
            <a:r>
              <a:rPr lang="fr-CA" sz="1720" noProof="0" dirty="0">
                <a:solidFill>
                  <a:srgbClr val="486581"/>
                </a:solidFill>
                <a:latin typeface="Calibri" pitchFamily="34" charset="0"/>
                <a:ea typeface="Calibri" pitchFamily="34" charset="-122"/>
                <a:cs typeface="Calibri" pitchFamily="34" charset="-120"/>
              </a:rPr>
              <a:t>.</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Approfondi</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Rejeu de réconciliation.</a:t>
            </a:r>
            <a:endParaRPr lang="fr-CA" sz="1600" dirty="0"/>
          </a:p>
          <a:p>
            <a:r>
              <a:rPr lang="fr-CA" sz="1600" dirty="0">
                <a:solidFill>
                  <a:srgbClr val="486581"/>
                </a:solidFill>
                <a:latin typeface="Calibri" pitchFamily="34" charset="0"/>
                <a:ea typeface="Calibri" pitchFamily="34" charset="-122"/>
                <a:cs typeface="Calibri" pitchFamily="34" charset="-120"/>
              </a:rPr>
              <a:t>Consommateur fantôme.</a:t>
            </a:r>
            <a:endParaRPr lang="fr-CA" sz="1600" dirty="0"/>
          </a:p>
          <a:p>
            <a:r>
              <a:rPr lang="fr-CA" sz="1600" dirty="0">
                <a:solidFill>
                  <a:srgbClr val="486581"/>
                </a:solidFill>
                <a:latin typeface="Calibri" pitchFamily="34" charset="0"/>
                <a:ea typeface="Calibri" pitchFamily="34" charset="-122"/>
                <a:cs typeface="Calibri" pitchFamily="34" charset="-120"/>
              </a:rPr>
              <a:t>Audit des écarts.</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Détecter</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Localiser</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Réparer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Auditer</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(Consigner)</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Séquence des processus</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Demandes</a:t>
            </a:r>
            <a:r>
              <a:rPr lang="fr-CA" sz="1850" b="1" noProof="0" dirty="0">
                <a:solidFill>
                  <a:srgbClr val="1F6FEB"/>
                </a:solidFill>
                <a:latin typeface="Calibri" pitchFamily="34" charset="0"/>
                <a:ea typeface="Calibri" pitchFamily="34" charset="-122"/>
                <a:cs typeface="Calibri" pitchFamily="34" charset="-120"/>
              </a:rPr>
              <a:t> traitées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État</a:t>
            </a:r>
            <a:r>
              <a:rPr lang="fr-CA" sz="1850" b="1" noProof="0" dirty="0">
                <a:solidFill>
                  <a:srgbClr val="0F766E"/>
                </a:solidFill>
                <a:latin typeface="Calibri" pitchFamily="34" charset="0"/>
                <a:ea typeface="Calibri" pitchFamily="34" charset="-122"/>
                <a:cs typeface="Calibri" pitchFamily="34" charset="-120"/>
              </a:rPr>
              <a:t> attendu</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État </a:t>
            </a:r>
            <a:r>
              <a:rPr lang="fr-CA" sz="2000" b="1" noProof="0" dirty="0">
                <a:solidFill>
                  <a:srgbClr val="B45309"/>
                </a:solidFill>
                <a:latin typeface="Calibri" pitchFamily="34" charset="0"/>
                <a:ea typeface="Calibri" pitchFamily="34" charset="-122"/>
                <a:cs typeface="Calibri" pitchFamily="34" charset="-120"/>
              </a:rPr>
              <a:t>persisté</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Ce ne sont pas trois marches d'une échelle de maturité</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documentation compare des styles d'intégration complémentaires qui placent la complexité à des endroits différents.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(lots)</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(synchrone)</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Tâches planifiées.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Requête-réponse.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et consommation.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Valeur recherchée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Mouvements massifs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préparation.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Résultat immédiat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pour le demandeur.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Consommateurs indépendants, tampon et rejeu.</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Complexité à maîtriser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Calendriers, lignage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qualité.</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Disponibilité, appels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Ordre, doublons,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et cohérence à terme.</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La bonne question : quel mécanisme répond au besoin avec une complexité maîtrisable ?</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PROUVER ET CHOISIR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Justifier l'EDA par sa valeur, pas par le choix de la plateforme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Comparer les options sur le même horizon et expliciter les hypothèses, les coûts et les bénéfices.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 le coût complet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Plateforme et environnements.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Ingénierie et exploitation.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Exactitude, tests et réconciliation.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Gouvernance et sécurité.</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 des bénéfices mesurables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Réaction plus rapide.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Réutilisation des événements.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Évolution indépendante.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Rejeu, audit et restauration.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 besoins + options + garanties + TCO/ROI + responsables + critères de révision.</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PROUVER ET CHOISIR</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DU LABORATOIRE À L'EXPLOITATION</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Le sandbox rend les limites visibles; il ne les efface pas</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facilité d'exécution locale et les garanties d'une architecture de production sont deux objectifs distincts.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Pour apprendre localement</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Pour aller vers une cible de production</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Moteurs et base embarqués.</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Services externes, état partagé et durabilité explicites.</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Pont Flink in-JVM et stockage temporaire.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Runtime cible, connecteurs et restauration validés.</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Options et tableaux de bord pédagogiques.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Sécurité, contrats, supervision et procédures opérables.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Anomalies volontaires de concurrence.</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Invariants protégés et scénarios de défaillance testés.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Chaque garantie doit être rattachée à un périmètre, une hypothèse et une preuve.</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MISE EN PRATIQUE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PROPOSITION D'ATELIER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Quatre expériences pour relier les concepts aux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Préparer un état de départ comparable, ne changer qu'une variable et expliquer ce qui est observé.</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Avec / sans clé</a:t>
            </a:r>
            <a:endParaRPr lang="fr-CA" sz="2000" noProof="0" dirty="0"/>
          </a:p>
        </p:txBody>
      </p:sp>
      <p:sp>
        <p:nvSpPr>
          <p:cNvPr id="12" name="Text 10"/>
          <p:cNvSpPr/>
          <p:nvPr>
            <p:custDataLst>
              <p:tags r:id="rId11"/>
            </p:custDataLst>
          </p:nvPr>
        </p:nvSpPr>
        <p:spPr>
          <a:xfrm>
            <a:off x="1079257" y="2467625"/>
            <a:ext cx="3778062" cy="38497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L'ordre par produit change-t-il l'inventaire ?</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Observer → formuler une hypothèse → modifier une variable → expliquer le résultat (Effectuer une corroboration manuelle).</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Démo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Rejeu et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87327"/>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Quel effet ne doit pas être appliqué deux fois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Kafka vs pause Flink</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91388"/>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Que conserve chaque mécanisme de reprise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Vérification métier</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22753"/>
            <a:ext cx="3778062" cy="384974"/>
          </a:xfrm>
          <a:prstGeom prst="rect">
            <a:avLst/>
          </a:prstGeom>
          <a:noFill/>
          <a:ln/>
        </p:spPr>
        <p:txBody>
          <a:bodyPr wrap="square" lIns="0" tIns="0" rIns="0" bIns="0" rtlCol="0" anchor="t">
            <a:normAutofit fontScale="92500"/>
          </a:bodyPr>
          <a:lstStyle/>
          <a:p>
            <a:r>
              <a:rPr lang="fr-CA" sz="1650" dirty="0">
                <a:solidFill>
                  <a:srgbClr val="486581"/>
                </a:solidFill>
                <a:latin typeface="Calibri" pitchFamily="34" charset="0"/>
                <a:ea typeface="Calibri" pitchFamily="34" charset="-122"/>
                <a:cs typeface="Calibri" pitchFamily="34" charset="-120"/>
              </a:rPr>
              <a:t>Les requêtes expliquent-elles l’inventaires final </a:t>
            </a:r>
            <a:r>
              <a:rPr lang="fr-CA" sz="1650" noProof="0" dirty="0">
                <a:solidFill>
                  <a:srgbClr val="486581"/>
                </a:solidFill>
                <a:latin typeface="Calibri" pitchFamily="34" charset="0"/>
                <a:ea typeface="Calibri" pitchFamily="34" charset="-122"/>
                <a:cs typeface="Calibri" pitchFamily="34" charset="-120"/>
              </a:rPr>
              <a:t>?</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LES IDÉES À EMPORTER</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Une EDA résiliente se construit de bout en bout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La valeur du projet est de rendre visibles les responsabilités que le transport seul ne prend pas en charge.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Livrer un message, appliquer un effet et prouver le résultat</a:t>
            </a:r>
            <a:r>
              <a:rPr lang="fr-CA" sz="2400" noProof="0" dirty="0"/>
              <a:t> </a:t>
            </a:r>
          </a:p>
          <a:p>
            <a:pPr marL="0" indent="0" algn="ctr">
              <a:buNone/>
            </a:pPr>
            <a:r>
              <a:rPr lang="fr-CA" sz="2400" b="1" noProof="0" dirty="0">
                <a:solidFill>
                  <a:srgbClr val="FFFFFF"/>
                </a:solidFill>
                <a:latin typeface="Calibri" pitchFamily="34" charset="0"/>
                <a:ea typeface="Calibri" pitchFamily="34" charset="-122"/>
                <a:cs typeface="Calibri" pitchFamily="34" charset="-120"/>
              </a:rPr>
              <a:t>sont trois responsabilités distinctes.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Ordonner par entité</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Délimiter l'atomicité</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Tolérer les doublons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Préparer la reprise</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Vérifier les données</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Justifier la complexité</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 quelle garantie affirmez-vous, et comment la démontreriez-vous ?</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Retrouver les chapitres du parcours dans le projet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Les chemins sont relatifs à doc/fr/. Chaque diapositive possède aussi ses sources détaillées dans les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Présentation du projet</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LISEZ_MOI.md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et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architecture_et_conception_des_topics.md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Données et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base_de_donnees.md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Comparaison des rapports</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rapports.md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Livraison et fiabilité</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semantiques_livraison_et_fiabilite.md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Acquittement et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reconnaissance_et_idempotence_consommateur.md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Persistance et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patrons_persistance_et_transaction.md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Kafka, Flink et Hazelcast embarqués</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guides_sandbox.md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APPROFONDISSEMENTS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Poursuivre de la résilience technique à la confiance</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La progression relie les mécanismes d'exécution, l'exploitation, la gouvernance et le choix d'architecture.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Guide d'ingénierie Kafka · Projet EDA</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Chemin Flink du sandbox</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guides_flink.md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Intégration Flink / Spring Boot</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Cycle de vie et opérations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cycle_vie_et_operations.md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et arrêt</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distribution_scale_et_arret.md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Élasticité EKS</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elasticite_horizontale_eks.md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Gouvernance et observabilité</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gouvernance_et_observabilite.md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verification_donnees.md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Choix ETL / SOA / EDA et TCO/ROI</a:t>
            </a:r>
            <a:endParaRPr lang="en-US" sz="1630" dirty="0"/>
          </a:p>
        </p:txBody>
      </p:sp>
      <p:sp>
        <p:nvSpPr>
          <p:cNvPr id="35" name="Text 33"/>
          <p:cNvSpPr/>
          <p:nvPr>
            <p:custDataLst>
              <p:tags r:id="rId34"/>
            </p:custDataLst>
          </p:nvPr>
        </p:nvSpPr>
        <p:spPr>
          <a:xfrm>
            <a:off x="1033272" y="529437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AB8C588C-50F2-8472-AD1D-9E548199A74D}"/>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E29B8AF5-2069-07E6-C317-0A401BC2144E}"/>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Références de ce support : documentation du projet.</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Lire JRN_EVENT sans confondre ses responsabilités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journal distingue l'identité d'un traitement, sa corrélation, sa nature et son issue.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Champ</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à laquelle il répond</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consommateur a traité quel événement ?</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À quelle publication appartient-il ?</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Première livraison ou rejeu délibéré ?</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ou ERROR ?</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PAYLOAD_HASH / dates</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Quel contenu et quelle chronologie de traitement ?</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Clé primaire. </a:t>
            </a:r>
            <a:r>
              <a:rPr lang="fr-CA" sz="1600" dirty="0">
                <a:solidFill>
                  <a:srgbClr val="486581"/>
                </a:solidFill>
                <a:latin typeface="Calibri" pitchFamily="34" charset="0"/>
                <a:ea typeface="Calibri" pitchFamily="34" charset="-122"/>
                <a:cs typeface="Calibri" pitchFamily="34" charset="-120"/>
              </a:rPr>
              <a:t>Est-ce la clé substitut ?</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Les dépendances locales à remplacer en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ANNEXE D </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DÉPENDANCES EXTERNES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Les limitations du sandbox</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ANNEXE E </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CHOIX ET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Le projet sandbox est un outil pédagogique. Certains choix pour faciliter l’apprentissage et/ou l’implémentation.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Guide d'ingénierie Kafka · Projet EDA</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replay est très simpliste et vise une démonstration, pas une réelle implémentation. À raffiner pour une PRD. </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Modèle SGBDR</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Le modèle est volontairement simpliste. Client : Client, compte, solde, trx. Inventaire : Catégorie, modèle,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Seul le Sandbox Kafka est qualité PRD. Flink est une base et Hazelcast nécessite du refactoring : Sandbox Datagrid.</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Implémentation exploratoire in-JVM afin de ne pas avoir à refaire l’implémentation en SpringBoot.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Jeton / EVT </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Afin de faciliter l’implémentation du « replay ». </a:t>
            </a:r>
            <a:r>
              <a:rPr lang="fr-CA" sz="1600" dirty="0"/>
              <a:t>Le jeton ne contient pas le champ « version ».</a:t>
            </a:r>
            <a:endParaRPr lang="fr-CA" sz="1600" noProof="0" dirty="0"/>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La fonctionnalité de la pause assume un seul processus. L’implémentation est à raffiner pour une PRD.</a:t>
            </a:r>
            <a:endParaRPr lang="fr-CA" sz="1600" noProof="0" dirty="0"/>
          </a:p>
        </p:txBody>
      </p:sp>
      <p:sp>
        <p:nvSpPr>
          <p:cNvPr id="5" name="Shape 23">
            <a:extLst>
              <a:ext uri="{FF2B5EF4-FFF2-40B4-BE49-F238E27FC236}">
                <a16:creationId xmlns:a16="http://schemas.microsoft.com/office/drawing/2014/main" id="{07E95200-DC33-DC18-0DEF-AAB6D1044496}"/>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C11895C5-0791-BFEE-59C0-689C7087BEE4}"/>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Sécurité</a:t>
            </a:r>
            <a:endParaRPr lang="fr-CA" sz="1600" noProof="0" dirty="0"/>
          </a:p>
        </p:txBody>
      </p:sp>
      <p:sp>
        <p:nvSpPr>
          <p:cNvPr id="18" name="Shape 25">
            <a:extLst>
              <a:ext uri="{FF2B5EF4-FFF2-40B4-BE49-F238E27FC236}">
                <a16:creationId xmlns:a16="http://schemas.microsoft.com/office/drawing/2014/main" id="{EEE0C3B4-A724-40C6-1889-7C85AC0816D2}"/>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60CD7AAC-7F4C-CEC8-C7CD-BAF4572E883C}"/>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fr-CA" sz="1600" dirty="0"/>
              <a:t>La sécurité est simpliste, les valeurs sont codées en dur. Le jeton JWT est conservé dans le navigateur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1"/>
</p:tagLst>
</file>

<file path=ppt/tags/tag1197.xml><?xml version="1.0" encoding="utf-8"?>
<p:tagLst xmlns:a="http://schemas.openxmlformats.org/drawingml/2006/main" xmlns:r="http://schemas.openxmlformats.org/officeDocument/2006/relationships" xmlns:p="http://schemas.openxmlformats.org/presentationml/2006/main">
  <p:tag name="NUM" val="2"/>
</p:tagLst>
</file>

<file path=ppt/tags/tag1198.xml><?xml version="1.0" encoding="utf-8"?>
<p:tagLst xmlns:a="http://schemas.openxmlformats.org/drawingml/2006/main" xmlns:r="http://schemas.openxmlformats.org/officeDocument/2006/relationships" xmlns:p="http://schemas.openxmlformats.org/presentationml/2006/main">
  <p:tag name="NUM" val="3"/>
</p:tagLst>
</file>

<file path=ppt/tags/tag1199.xml><?xml version="1.0" encoding="utf-8"?>
<p:tagLst xmlns:a="http://schemas.openxmlformats.org/drawingml/2006/main" xmlns:r="http://schemas.openxmlformats.org/officeDocument/2006/relationships" xmlns:p="http://schemas.openxmlformats.org/presentationml/2006/main">
  <p:tag name="NUM" val="4"/>
</p:tagLst>
</file>

<file path=ppt/tags/tag1200.xml><?xml version="1.0" encoding="utf-8"?>
<p:tagLst xmlns:a="http://schemas.openxmlformats.org/drawingml/2006/main" xmlns:r="http://schemas.openxmlformats.org/officeDocument/2006/relationships" xmlns:p="http://schemas.openxmlformats.org/presentationml/2006/main">
  <p:tag name="NUM" val="5"/>
</p:tagLst>
</file>

<file path=ppt/tags/tag1201.xml><?xml version="1.0" encoding="utf-8"?>
<p:tagLst xmlns:a="http://schemas.openxmlformats.org/drawingml/2006/main" xmlns:r="http://schemas.openxmlformats.org/officeDocument/2006/relationships" xmlns:p="http://schemas.openxmlformats.org/presentationml/2006/main">
  <p:tag name="NUM" val="6"/>
</p:tagLst>
</file>

<file path=ppt/tags/tag1202.xml><?xml version="1.0" encoding="utf-8"?>
<p:tagLst xmlns:a="http://schemas.openxmlformats.org/drawingml/2006/main" xmlns:r="http://schemas.openxmlformats.org/officeDocument/2006/relationships" xmlns:p="http://schemas.openxmlformats.org/presentationml/2006/main">
  <p:tag name="NUM" val="7"/>
</p:tagLst>
</file>

<file path=ppt/tags/tag1203.xml><?xml version="1.0" encoding="utf-8"?>
<p:tagLst xmlns:a="http://schemas.openxmlformats.org/drawingml/2006/main" xmlns:r="http://schemas.openxmlformats.org/officeDocument/2006/relationships" xmlns:p="http://schemas.openxmlformats.org/presentationml/2006/main">
  <p:tag name="NUM" val="8"/>
</p:tagLst>
</file>

<file path=ppt/tags/tag1204.xml><?xml version="1.0" encoding="utf-8"?>
<p:tagLst xmlns:a="http://schemas.openxmlformats.org/drawingml/2006/main" xmlns:r="http://schemas.openxmlformats.org/officeDocument/2006/relationships" xmlns:p="http://schemas.openxmlformats.org/presentationml/2006/main">
  <p:tag name="NUM" val="9"/>
</p:tagLst>
</file>

<file path=ppt/tags/tag1205.xml><?xml version="1.0" encoding="utf-8"?>
<p:tagLst xmlns:a="http://schemas.openxmlformats.org/drawingml/2006/main" xmlns:r="http://schemas.openxmlformats.org/officeDocument/2006/relationships" xmlns:p="http://schemas.openxmlformats.org/presentationml/2006/main">
  <p:tag name="NUM" val="10"/>
</p:tagLst>
</file>

<file path=ppt/tags/tag1206.xml><?xml version="1.0" encoding="utf-8"?>
<p:tagLst xmlns:a="http://schemas.openxmlformats.org/drawingml/2006/main" xmlns:r="http://schemas.openxmlformats.org/officeDocument/2006/relationships" xmlns:p="http://schemas.openxmlformats.org/presentationml/2006/main">
  <p:tag name="NUM" val="11"/>
</p:tagLst>
</file>

<file path=ppt/tags/tag1207.xml><?xml version="1.0" encoding="utf-8"?>
<p:tagLst xmlns:a="http://schemas.openxmlformats.org/drawingml/2006/main" xmlns:r="http://schemas.openxmlformats.org/officeDocument/2006/relationships" xmlns:p="http://schemas.openxmlformats.org/presentationml/2006/main">
  <p:tag name="NUM" val="12"/>
</p:tagLst>
</file>

<file path=ppt/tags/tag1208.xml><?xml version="1.0" encoding="utf-8"?>
<p:tagLst xmlns:a="http://schemas.openxmlformats.org/drawingml/2006/main" xmlns:r="http://schemas.openxmlformats.org/officeDocument/2006/relationships" xmlns:p="http://schemas.openxmlformats.org/presentationml/2006/main">
  <p:tag name="NUM" val="13"/>
</p:tagLst>
</file>

<file path=ppt/tags/tag1209.xml><?xml version="1.0" encoding="utf-8"?>
<p:tagLst xmlns:a="http://schemas.openxmlformats.org/drawingml/2006/main" xmlns:r="http://schemas.openxmlformats.org/officeDocument/2006/relationships" xmlns:p="http://schemas.openxmlformats.org/presentationml/2006/main">
  <p:tag name="NUM" val="14"/>
</p:tagLst>
</file>

<file path=ppt/tags/tag1210.xml><?xml version="1.0" encoding="utf-8"?>
<p:tagLst xmlns:a="http://schemas.openxmlformats.org/drawingml/2006/main" xmlns:r="http://schemas.openxmlformats.org/officeDocument/2006/relationships" xmlns:p="http://schemas.openxmlformats.org/presentationml/2006/main">
  <p:tag name="NUM" val="15"/>
</p:tagLst>
</file>

<file path=ppt/tags/tag1211.xml><?xml version="1.0" encoding="utf-8"?>
<p:tagLst xmlns:a="http://schemas.openxmlformats.org/drawingml/2006/main" xmlns:r="http://schemas.openxmlformats.org/officeDocument/2006/relationships" xmlns:p="http://schemas.openxmlformats.org/presentationml/2006/main">
  <p:tag name="NUM" val="16"/>
</p:tagLst>
</file>

<file path=ppt/tags/tag1212.xml><?xml version="1.0" encoding="utf-8"?>
<p:tagLst xmlns:a="http://schemas.openxmlformats.org/drawingml/2006/main" xmlns:r="http://schemas.openxmlformats.org/officeDocument/2006/relationships" xmlns:p="http://schemas.openxmlformats.org/presentationml/2006/main">
  <p:tag name="NUM" val="17"/>
</p:tagLst>
</file>

<file path=ppt/tags/tag1213.xml><?xml version="1.0" encoding="utf-8"?>
<p:tagLst xmlns:a="http://schemas.openxmlformats.org/drawingml/2006/main" xmlns:r="http://schemas.openxmlformats.org/officeDocument/2006/relationships" xmlns:p="http://schemas.openxmlformats.org/presentationml/2006/main">
  <p:tag name="NUM" val="18"/>
</p:tagLst>
</file>

<file path=ppt/tags/tag1214.xml><?xml version="1.0" encoding="utf-8"?>
<p:tagLst xmlns:a="http://schemas.openxmlformats.org/drawingml/2006/main" xmlns:r="http://schemas.openxmlformats.org/officeDocument/2006/relationships" xmlns:p="http://schemas.openxmlformats.org/presentationml/2006/main">
  <p:tag name="NUM" val="19"/>
</p:tagLst>
</file>

<file path=ppt/tags/tag1215.xml><?xml version="1.0" encoding="utf-8"?>
<p:tagLst xmlns:a="http://schemas.openxmlformats.org/drawingml/2006/main" xmlns:r="http://schemas.openxmlformats.org/officeDocument/2006/relationships" xmlns:p="http://schemas.openxmlformats.org/presentationml/2006/main">
  <p:tag name="NUM" val="20"/>
</p:tagLst>
</file>

<file path=ppt/tags/tag1216.xml><?xml version="1.0" encoding="utf-8"?>
<p:tagLst xmlns:a="http://schemas.openxmlformats.org/drawingml/2006/main" xmlns:r="http://schemas.openxmlformats.org/officeDocument/2006/relationships" xmlns:p="http://schemas.openxmlformats.org/presentationml/2006/main">
  <p:tag name="NUM" val="21"/>
</p:tagLst>
</file>

<file path=ppt/tags/tag1217.xml><?xml version="1.0" encoding="utf-8"?>
<p:tagLst xmlns:a="http://schemas.openxmlformats.org/drawingml/2006/main" xmlns:r="http://schemas.openxmlformats.org/officeDocument/2006/relationships" xmlns:p="http://schemas.openxmlformats.org/presentationml/2006/main">
  <p:tag name="NUM" val="22"/>
</p:tagLst>
</file>

<file path=ppt/tags/tag1218.xml><?xml version="1.0" encoding="utf-8"?>
<p:tagLst xmlns:a="http://schemas.openxmlformats.org/drawingml/2006/main" xmlns:r="http://schemas.openxmlformats.org/officeDocument/2006/relationships" xmlns:p="http://schemas.openxmlformats.org/presentationml/2006/main">
  <p:tag name="NUM" val="23"/>
</p:tagLst>
</file>

<file path=ppt/tags/tag1219.xml><?xml version="1.0" encoding="utf-8"?>
<p:tagLst xmlns:a="http://schemas.openxmlformats.org/drawingml/2006/main" xmlns:r="http://schemas.openxmlformats.org/officeDocument/2006/relationships" xmlns:p="http://schemas.openxmlformats.org/presentationml/2006/main">
  <p:tag name="NUM" val="24"/>
</p:tagLst>
</file>

<file path=ppt/tags/tag1220.xml><?xml version="1.0" encoding="utf-8"?>
<p:tagLst xmlns:a="http://schemas.openxmlformats.org/drawingml/2006/main" xmlns:r="http://schemas.openxmlformats.org/officeDocument/2006/relationships" xmlns:p="http://schemas.openxmlformats.org/presentationml/2006/main">
  <p:tag name="NUM" val="25"/>
</p:tagLst>
</file>

<file path=ppt/tags/tag1221.xml><?xml version="1.0" encoding="utf-8"?>
<p:tagLst xmlns:a="http://schemas.openxmlformats.org/drawingml/2006/main" xmlns:r="http://schemas.openxmlformats.org/officeDocument/2006/relationships" xmlns:p="http://schemas.openxmlformats.org/presentationml/2006/main">
  <p:tag name="NUM" val="26"/>
</p:tagLst>
</file>

<file path=ppt/tags/tag1222.xml><?xml version="1.0" encoding="utf-8"?>
<p:tagLst xmlns:a="http://schemas.openxmlformats.org/drawingml/2006/main" xmlns:r="http://schemas.openxmlformats.org/officeDocument/2006/relationships" xmlns:p="http://schemas.openxmlformats.org/presentationml/2006/main">
  <p:tag name="NUM" val="27"/>
</p:tagLst>
</file>

<file path=ppt/tags/tag1223.xml><?xml version="1.0" encoding="utf-8"?>
<p:tagLst xmlns:a="http://schemas.openxmlformats.org/drawingml/2006/main" xmlns:r="http://schemas.openxmlformats.org/officeDocument/2006/relationships" xmlns:p="http://schemas.openxmlformats.org/presentationml/2006/main">
  <p:tag name="NUM" val="28"/>
</p:tagLst>
</file>

<file path=ppt/tags/tag1224.xml><?xml version="1.0" encoding="utf-8"?>
<p:tagLst xmlns:a="http://schemas.openxmlformats.org/drawingml/2006/main" xmlns:r="http://schemas.openxmlformats.org/officeDocument/2006/relationships" xmlns:p="http://schemas.openxmlformats.org/presentationml/2006/main">
  <p:tag name="NUM" val="29"/>
</p:tagLst>
</file>

<file path=ppt/tags/tag1225.xml><?xml version="1.0" encoding="utf-8"?>
<p:tagLst xmlns:a="http://schemas.openxmlformats.org/drawingml/2006/main" xmlns:r="http://schemas.openxmlformats.org/officeDocument/2006/relationships" xmlns:p="http://schemas.openxmlformats.org/presentationml/2006/main">
  <p:tag name="NUM" val="30"/>
</p:tagLst>
</file>

<file path=ppt/tags/tag1226.xml><?xml version="1.0" encoding="utf-8"?>
<p:tagLst xmlns:a="http://schemas.openxmlformats.org/drawingml/2006/main" xmlns:r="http://schemas.openxmlformats.org/officeDocument/2006/relationships" xmlns:p="http://schemas.openxmlformats.org/presentationml/2006/main">
  <p:tag name="NUM" val="31"/>
</p:tagLst>
</file>

<file path=ppt/tags/tag1227.xml><?xml version="1.0" encoding="utf-8"?>
<p:tagLst xmlns:a="http://schemas.openxmlformats.org/drawingml/2006/main" xmlns:r="http://schemas.openxmlformats.org/officeDocument/2006/relationships" xmlns:p="http://schemas.openxmlformats.org/presentationml/2006/main">
  <p:tag name="NUM" val="16"/>
</p:tagLst>
</file>

<file path=ppt/tags/tag1228.xml><?xml version="1.0" encoding="utf-8"?>
<p:tagLst xmlns:a="http://schemas.openxmlformats.org/drawingml/2006/main" xmlns:r="http://schemas.openxmlformats.org/officeDocument/2006/relationships" xmlns:p="http://schemas.openxmlformats.org/presentationml/2006/main">
  <p:tag name="NUM" val="17"/>
</p:tagLst>
</file>

<file path=ppt/tags/tag1229.xml><?xml version="1.0" encoding="utf-8"?>
<p:tagLst xmlns:a="http://schemas.openxmlformats.org/drawingml/2006/main" xmlns:r="http://schemas.openxmlformats.org/officeDocument/2006/relationships" xmlns:p="http://schemas.openxmlformats.org/presentationml/2006/main">
  <p:tag name="NUM" val="18"/>
</p:tagLst>
</file>

<file path=ppt/tags/tag1230.xml><?xml version="1.0" encoding="utf-8"?>
<p:tagLst xmlns:a="http://schemas.openxmlformats.org/drawingml/2006/main" xmlns:r="http://schemas.openxmlformats.org/officeDocument/2006/relationships" xmlns:p="http://schemas.openxmlformats.org/presentationml/2006/main">
  <p:tag name="NUM" val="19"/>
</p:tagLst>
</file>

<file path=ppt/tags/tag1231.xml><?xml version="1.0" encoding="utf-8"?>
<p:tagLst xmlns:a="http://schemas.openxmlformats.org/drawingml/2006/main" xmlns:r="http://schemas.openxmlformats.org/officeDocument/2006/relationships" xmlns:p="http://schemas.openxmlformats.org/presentationml/2006/main">
  <p:tag name="NUM" val="3"/>
</p:tagLst>
</file>

<file path=ppt/tags/tag1232.xml><?xml version="1.0" encoding="utf-8"?>
<p:tagLst xmlns:a="http://schemas.openxmlformats.org/drawingml/2006/main" xmlns:r="http://schemas.openxmlformats.org/officeDocument/2006/relationships" xmlns:p="http://schemas.openxmlformats.org/presentationml/2006/main">
  <p:tag name="NUM" val="6"/>
</p:tagLst>
</file>

<file path=ppt/tags/tag1233.xml><?xml version="1.0" encoding="utf-8"?>
<p:tagLst xmlns:a="http://schemas.openxmlformats.org/drawingml/2006/main" xmlns:r="http://schemas.openxmlformats.org/officeDocument/2006/relationships" xmlns:p="http://schemas.openxmlformats.org/presentationml/2006/main">
  <p:tag name="NUM" val="1"/>
</p:tagLst>
</file>

<file path=ppt/tags/tag1234.xml><?xml version="1.0" encoding="utf-8"?>
<p:tagLst xmlns:a="http://schemas.openxmlformats.org/drawingml/2006/main" xmlns:r="http://schemas.openxmlformats.org/officeDocument/2006/relationships" xmlns:p="http://schemas.openxmlformats.org/presentationml/2006/main">
  <p:tag name="NUM" val="2"/>
</p:tagLst>
</file>

<file path=ppt/tags/tag1235.xml><?xml version="1.0" encoding="utf-8"?>
<p:tagLst xmlns:a="http://schemas.openxmlformats.org/drawingml/2006/main" xmlns:r="http://schemas.openxmlformats.org/officeDocument/2006/relationships" xmlns:p="http://schemas.openxmlformats.org/presentationml/2006/main">
  <p:tag name="NUM" val="3"/>
</p:tagLst>
</file>

<file path=ppt/tags/tag1236.xml><?xml version="1.0" encoding="utf-8"?>
<p:tagLst xmlns:a="http://schemas.openxmlformats.org/drawingml/2006/main" xmlns:r="http://schemas.openxmlformats.org/officeDocument/2006/relationships" xmlns:p="http://schemas.openxmlformats.org/presentationml/2006/main">
  <p:tag name="NUM" val="5"/>
</p:tagLst>
</file>

<file path=ppt/tags/tag1237.xml><?xml version="1.0" encoding="utf-8"?>
<p:tagLst xmlns:a="http://schemas.openxmlformats.org/drawingml/2006/main" xmlns:r="http://schemas.openxmlformats.org/officeDocument/2006/relationships" xmlns:p="http://schemas.openxmlformats.org/presentationml/2006/main">
  <p:tag name="NUM" val="6"/>
</p:tagLst>
</file>

<file path=ppt/tags/tag1238.xml><?xml version="1.0" encoding="utf-8"?>
<p:tagLst xmlns:a="http://schemas.openxmlformats.org/drawingml/2006/main" xmlns:r="http://schemas.openxmlformats.org/officeDocument/2006/relationships" xmlns:p="http://schemas.openxmlformats.org/presentationml/2006/main">
  <p:tag name="NUM" val="7"/>
</p:tagLst>
</file>

<file path=ppt/tags/tag1239.xml><?xml version="1.0" encoding="utf-8"?>
<p:tagLst xmlns:a="http://schemas.openxmlformats.org/drawingml/2006/main" xmlns:r="http://schemas.openxmlformats.org/officeDocument/2006/relationships" xmlns:p="http://schemas.openxmlformats.org/presentationml/2006/main">
  <p:tag name="NUM" val="3"/>
</p:tagLst>
</file>

<file path=ppt/tags/tag1240.xml><?xml version="1.0" encoding="utf-8"?>
<p:tagLst xmlns:a="http://schemas.openxmlformats.org/drawingml/2006/main" xmlns:r="http://schemas.openxmlformats.org/officeDocument/2006/relationships" xmlns:p="http://schemas.openxmlformats.org/presentationml/2006/main">
  <p:tag name="NUM" val="1"/>
</p:tagLst>
</file>

<file path=ppt/tags/tag1241.xml><?xml version="1.0" encoding="utf-8"?>
<p:tagLst xmlns:a="http://schemas.openxmlformats.org/drawingml/2006/main" xmlns:r="http://schemas.openxmlformats.org/officeDocument/2006/relationships" xmlns:p="http://schemas.openxmlformats.org/presentationml/2006/main">
  <p:tag name="NUM" val="2"/>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5"/>
</p:tagLst>
</file>

<file path=ppt/tags/tag1244.xml><?xml version="1.0" encoding="utf-8"?>
<p:tagLst xmlns:a="http://schemas.openxmlformats.org/drawingml/2006/main" xmlns:r="http://schemas.openxmlformats.org/officeDocument/2006/relationships" xmlns:p="http://schemas.openxmlformats.org/presentationml/2006/main">
  <p:tag name="NUM" val="6"/>
</p:tagLst>
</file>

<file path=ppt/tags/tag1245.xml><?xml version="1.0" encoding="utf-8"?>
<p:tagLst xmlns:a="http://schemas.openxmlformats.org/drawingml/2006/main" xmlns:r="http://schemas.openxmlformats.org/officeDocument/2006/relationships" xmlns:p="http://schemas.openxmlformats.org/presentationml/2006/main">
  <p:tag name="NUM" val="7"/>
</p:tagLst>
</file>

<file path=ppt/tags/tag1246.xml><?xml version="1.0" encoding="utf-8"?>
<p:tagLst xmlns:a="http://schemas.openxmlformats.org/drawingml/2006/main" xmlns:r="http://schemas.openxmlformats.org/officeDocument/2006/relationships" xmlns:p="http://schemas.openxmlformats.org/presentationml/2006/main">
  <p:tag name="NUM" val="8"/>
</p:tagLst>
</file>

<file path=ppt/tags/tag1247.xml><?xml version="1.0" encoding="utf-8"?>
<p:tagLst xmlns:a="http://schemas.openxmlformats.org/drawingml/2006/main" xmlns:r="http://schemas.openxmlformats.org/officeDocument/2006/relationships" xmlns:p="http://schemas.openxmlformats.org/presentationml/2006/main">
  <p:tag name="NUM" val="9"/>
</p:tagLst>
</file>

<file path=ppt/tags/tag1248.xml><?xml version="1.0" encoding="utf-8"?>
<p:tagLst xmlns:a="http://schemas.openxmlformats.org/drawingml/2006/main" xmlns:r="http://schemas.openxmlformats.org/officeDocument/2006/relationships" xmlns:p="http://schemas.openxmlformats.org/presentationml/2006/main">
  <p:tag name="NUM" val="10"/>
</p:tagLst>
</file>

<file path=ppt/tags/tag1249.xml><?xml version="1.0" encoding="utf-8"?>
<p:tagLst xmlns:a="http://schemas.openxmlformats.org/drawingml/2006/main" xmlns:r="http://schemas.openxmlformats.org/officeDocument/2006/relationships" xmlns:p="http://schemas.openxmlformats.org/presentationml/2006/main">
  <p:tag name="NUM" val="11"/>
</p:tagLst>
</file>

<file path=ppt/tags/tag1250.xml><?xml version="1.0" encoding="utf-8"?>
<p:tagLst xmlns:a="http://schemas.openxmlformats.org/drawingml/2006/main" xmlns:r="http://schemas.openxmlformats.org/officeDocument/2006/relationships" xmlns:p="http://schemas.openxmlformats.org/presentationml/2006/main">
  <p:tag name="NUM" val="12"/>
</p:tagLst>
</file>

<file path=ppt/tags/tag1251.xml><?xml version="1.0" encoding="utf-8"?>
<p:tagLst xmlns:a="http://schemas.openxmlformats.org/drawingml/2006/main" xmlns:r="http://schemas.openxmlformats.org/officeDocument/2006/relationships" xmlns:p="http://schemas.openxmlformats.org/presentationml/2006/main">
  <p:tag name="NUM" val="13"/>
</p:tagLst>
</file>

<file path=ppt/tags/tag1252.xml><?xml version="1.0" encoding="utf-8"?>
<p:tagLst xmlns:a="http://schemas.openxmlformats.org/drawingml/2006/main" xmlns:r="http://schemas.openxmlformats.org/officeDocument/2006/relationships" xmlns:p="http://schemas.openxmlformats.org/presentationml/2006/main">
  <p:tag name="NUM" val="14"/>
</p:tagLst>
</file>

<file path=ppt/tags/tag1253.xml><?xml version="1.0" encoding="utf-8"?>
<p:tagLst xmlns:a="http://schemas.openxmlformats.org/drawingml/2006/main" xmlns:r="http://schemas.openxmlformats.org/officeDocument/2006/relationships" xmlns:p="http://schemas.openxmlformats.org/presentationml/2006/main">
  <p:tag name="NUM" val="15"/>
</p:tagLst>
</file>

<file path=ppt/tags/tag1254.xml><?xml version="1.0" encoding="utf-8"?>
<p:tagLst xmlns:a="http://schemas.openxmlformats.org/drawingml/2006/main" xmlns:r="http://schemas.openxmlformats.org/officeDocument/2006/relationships" xmlns:p="http://schemas.openxmlformats.org/presentationml/2006/main">
  <p:tag name="NUM" val="16"/>
</p:tagLst>
</file>

<file path=ppt/tags/tag1255.xml><?xml version="1.0" encoding="utf-8"?>
<p:tagLst xmlns:a="http://schemas.openxmlformats.org/drawingml/2006/main" xmlns:r="http://schemas.openxmlformats.org/officeDocument/2006/relationships" xmlns:p="http://schemas.openxmlformats.org/presentationml/2006/main">
  <p:tag name="NUM" val="17"/>
</p:tagLst>
</file>

<file path=ppt/tags/tag1256.xml><?xml version="1.0" encoding="utf-8"?>
<p:tagLst xmlns:a="http://schemas.openxmlformats.org/drawingml/2006/main" xmlns:r="http://schemas.openxmlformats.org/officeDocument/2006/relationships" xmlns:p="http://schemas.openxmlformats.org/presentationml/2006/main">
  <p:tag name="NUM" val="18"/>
</p:tagLst>
</file>

<file path=ppt/tags/tag1257.xml><?xml version="1.0" encoding="utf-8"?>
<p:tagLst xmlns:a="http://schemas.openxmlformats.org/drawingml/2006/main" xmlns:r="http://schemas.openxmlformats.org/officeDocument/2006/relationships" xmlns:p="http://schemas.openxmlformats.org/presentationml/2006/main">
  <p:tag name="NUM" val="19"/>
</p:tagLst>
</file>

<file path=ppt/tags/tag1258.xml><?xml version="1.0" encoding="utf-8"?>
<p:tagLst xmlns:a="http://schemas.openxmlformats.org/drawingml/2006/main" xmlns:r="http://schemas.openxmlformats.org/officeDocument/2006/relationships" xmlns:p="http://schemas.openxmlformats.org/presentationml/2006/main">
  <p:tag name="NUM" val="20"/>
</p:tagLst>
</file>

<file path=ppt/tags/tag1259.xml><?xml version="1.0" encoding="utf-8"?>
<p:tagLst xmlns:a="http://schemas.openxmlformats.org/drawingml/2006/main" xmlns:r="http://schemas.openxmlformats.org/officeDocument/2006/relationships" xmlns:p="http://schemas.openxmlformats.org/presentationml/2006/main">
  <p:tag name="NUM" val="21"/>
</p:tagLst>
</file>

<file path=ppt/tags/tag1260.xml><?xml version="1.0" encoding="utf-8"?>
<p:tagLst xmlns:a="http://schemas.openxmlformats.org/drawingml/2006/main" xmlns:r="http://schemas.openxmlformats.org/officeDocument/2006/relationships" xmlns:p="http://schemas.openxmlformats.org/presentationml/2006/main">
  <p:tag name="NUM" val="22"/>
</p:tagLst>
</file>

<file path=ppt/tags/tag1261.xml><?xml version="1.0" encoding="utf-8"?>
<p:tagLst xmlns:a="http://schemas.openxmlformats.org/drawingml/2006/main" xmlns:r="http://schemas.openxmlformats.org/officeDocument/2006/relationships" xmlns:p="http://schemas.openxmlformats.org/presentationml/2006/main">
  <p:tag name="NUM" val="23"/>
</p:tagLst>
</file>

<file path=ppt/tags/tag1262.xml><?xml version="1.0" encoding="utf-8"?>
<p:tagLst xmlns:a="http://schemas.openxmlformats.org/drawingml/2006/main" xmlns:r="http://schemas.openxmlformats.org/officeDocument/2006/relationships" xmlns:p="http://schemas.openxmlformats.org/presentationml/2006/main">
  <p:tag name="NUM" val="24"/>
</p:tagLst>
</file>

<file path=ppt/tags/tag1263.xml><?xml version="1.0" encoding="utf-8"?>
<p:tagLst xmlns:a="http://schemas.openxmlformats.org/drawingml/2006/main" xmlns:r="http://schemas.openxmlformats.org/officeDocument/2006/relationships" xmlns:p="http://schemas.openxmlformats.org/presentationml/2006/main">
  <p:tag name="NUM" val="25"/>
</p:tagLst>
</file>

<file path=ppt/tags/tag1264.xml><?xml version="1.0" encoding="utf-8"?>
<p:tagLst xmlns:a="http://schemas.openxmlformats.org/drawingml/2006/main" xmlns:r="http://schemas.openxmlformats.org/officeDocument/2006/relationships" xmlns:p="http://schemas.openxmlformats.org/presentationml/2006/main">
  <p:tag name="NUM" val="26"/>
</p:tagLst>
</file>

<file path=ppt/tags/tag1265.xml><?xml version="1.0" encoding="utf-8"?>
<p:tagLst xmlns:a="http://schemas.openxmlformats.org/drawingml/2006/main" xmlns:r="http://schemas.openxmlformats.org/officeDocument/2006/relationships" xmlns:p="http://schemas.openxmlformats.org/presentationml/2006/main">
  <p:tag name="NUM" val="27"/>
</p:tagLst>
</file>

<file path=ppt/tags/tag1266.xml><?xml version="1.0" encoding="utf-8"?>
<p:tagLst xmlns:a="http://schemas.openxmlformats.org/drawingml/2006/main" xmlns:r="http://schemas.openxmlformats.org/officeDocument/2006/relationships" xmlns:p="http://schemas.openxmlformats.org/presentationml/2006/main">
  <p:tag name="NUM" val="28"/>
</p:tagLst>
</file>

<file path=ppt/tags/tag1267.xml><?xml version="1.0" encoding="utf-8"?>
<p:tagLst xmlns:a="http://schemas.openxmlformats.org/drawingml/2006/main" xmlns:r="http://schemas.openxmlformats.org/officeDocument/2006/relationships" xmlns:p="http://schemas.openxmlformats.org/presentationml/2006/main">
  <p:tag name="NUM" val="29"/>
</p:tagLst>
</file>

<file path=ppt/tags/tag1268.xml><?xml version="1.0" encoding="utf-8"?>
<p:tagLst xmlns:a="http://schemas.openxmlformats.org/drawingml/2006/main" xmlns:r="http://schemas.openxmlformats.org/officeDocument/2006/relationships" xmlns:p="http://schemas.openxmlformats.org/presentationml/2006/main">
  <p:tag name="NUM" val="30"/>
</p:tagLst>
</file>

<file path=ppt/tags/tag1269.xml><?xml version="1.0" encoding="utf-8"?>
<p:tagLst xmlns:a="http://schemas.openxmlformats.org/drawingml/2006/main" xmlns:r="http://schemas.openxmlformats.org/officeDocument/2006/relationships" xmlns:p="http://schemas.openxmlformats.org/presentationml/2006/main">
  <p:tag name="NUM" val="31"/>
</p:tagLst>
</file>

<file path=ppt/tags/tag1270.xml><?xml version="1.0" encoding="utf-8"?>
<p:tagLst xmlns:a="http://schemas.openxmlformats.org/drawingml/2006/main" xmlns:r="http://schemas.openxmlformats.org/officeDocument/2006/relationships" xmlns:p="http://schemas.openxmlformats.org/presentationml/2006/main">
  <p:tag name="NUM" val="16"/>
</p:tagLst>
</file>

<file path=ppt/tags/tag1271.xml><?xml version="1.0" encoding="utf-8"?>
<p:tagLst xmlns:a="http://schemas.openxmlformats.org/drawingml/2006/main" xmlns:r="http://schemas.openxmlformats.org/officeDocument/2006/relationships" xmlns:p="http://schemas.openxmlformats.org/presentationml/2006/main">
  <p:tag name="NUM" val="17"/>
</p:tagLst>
</file>

<file path=ppt/tags/tag1272.xml><?xml version="1.0" encoding="utf-8"?>
<p:tagLst xmlns:a="http://schemas.openxmlformats.org/drawingml/2006/main" xmlns:r="http://schemas.openxmlformats.org/officeDocument/2006/relationships" xmlns:p="http://schemas.openxmlformats.org/presentationml/2006/main">
  <p:tag name="NUM" val="18"/>
</p:tagLst>
</file>

<file path=ppt/tags/tag1273.xml><?xml version="1.0" encoding="utf-8"?>
<p:tagLst xmlns:a="http://schemas.openxmlformats.org/drawingml/2006/main" xmlns:r="http://schemas.openxmlformats.org/officeDocument/2006/relationships" xmlns:p="http://schemas.openxmlformats.org/presentationml/2006/main">
  <p:tag name="NUM" val="19"/>
</p:tagLst>
</file>

<file path=ppt/tags/tag1274.xml><?xml version="1.0" encoding="utf-8"?>
<p:tagLst xmlns:a="http://schemas.openxmlformats.org/drawingml/2006/main" xmlns:r="http://schemas.openxmlformats.org/officeDocument/2006/relationships" xmlns:p="http://schemas.openxmlformats.org/presentationml/2006/main">
  <p:tag name="NUM" val="24"/>
</p:tagLst>
</file>

<file path=ppt/tags/tag1275.xml><?xml version="1.0" encoding="utf-8"?>
<p:tagLst xmlns:a="http://schemas.openxmlformats.org/drawingml/2006/main" xmlns:r="http://schemas.openxmlformats.org/officeDocument/2006/relationships" xmlns:p="http://schemas.openxmlformats.org/presentationml/2006/main">
  <p:tag name="NUM" val="25"/>
</p:tagLst>
</file>

<file path=ppt/tags/tag1276.xml><?xml version="1.0" encoding="utf-8"?>
<p:tagLst xmlns:a="http://schemas.openxmlformats.org/drawingml/2006/main" xmlns:r="http://schemas.openxmlformats.org/officeDocument/2006/relationships" xmlns:p="http://schemas.openxmlformats.org/presentationml/2006/main">
  <p:tag name="NUM" val="26"/>
</p:tagLst>
</file>

<file path=ppt/tags/tag1277.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1855</TotalTime>
  <Words>9145</Words>
  <Application>Microsoft Office PowerPoint</Application>
  <PresentationFormat>Grand écran</PresentationFormat>
  <Paragraphs>1351</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325</cp:revision>
  <dcterms:created xsi:type="dcterms:W3CDTF">2026-09-18T17:38:25Z</dcterms:created>
  <dcterms:modified xsi:type="dcterms:W3CDTF">2026-10-07T15:24:33Z</dcterms:modified>
</cp:coreProperties>
</file>