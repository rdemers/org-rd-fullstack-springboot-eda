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notesSlides/notesSlide41.xml" ContentType="application/vnd.openxmlformats-officedocument.presentationml.notesSlide+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notesSlides/notesSlide42.xml" ContentType="application/vnd.openxmlformats-officedocument.presentationml.notesSlide+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notesSlides/notesSlide43.xml" ContentType="application/vnd.openxmlformats-officedocument.presentationml.notesSlide+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tags/tag1278.xml" ContentType="application/vnd.openxmlformats-officedocument.presentationml.tags+xml"/>
  <Override PartName="/ppt/tags/tag1279.xml" ContentType="application/vnd.openxmlformats-officedocument.presentationml.tags+xml"/>
  <Override PartName="/ppt/tags/tag1280.xml" ContentType="application/vnd.openxmlformats-officedocument.presentationml.tags+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3212" autoAdjust="0"/>
  </p:normalViewPr>
  <p:slideViewPr>
    <p:cSldViewPr snapToGrid="0" snapToObjects="1">
      <p:cViewPr varScale="1">
        <p:scale>
          <a:sx n="61" d="100"/>
          <a:sy n="61" d="100"/>
        </p:scale>
        <p:origin x="884" y="64"/>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mers Real" userId="faf31a43-5513-4cc6-abd3-b43fc8e821b1" providerId="ADAL" clId="{7FC66AA7-CAD9-431F-BEAD-6F4ACAA6D751}"/>
    <pc:docChg chg="custSel modSld">
      <pc:chgData name="Demers Real" userId="faf31a43-5513-4cc6-abd3-b43fc8e821b1" providerId="ADAL" clId="{7FC66AA7-CAD9-431F-BEAD-6F4ACAA6D751}" dt="2026-10-09T14:36:17.064" v="73" actId="20577"/>
      <pc:docMkLst>
        <pc:docMk/>
      </pc:docMkLst>
      <pc:sldChg chg="modSp mod">
        <pc:chgData name="Demers Real" userId="faf31a43-5513-4cc6-abd3-b43fc8e821b1" providerId="ADAL" clId="{7FC66AA7-CAD9-431F-BEAD-6F4ACAA6D751}" dt="2026-10-09T14:34:21.460" v="12" actId="20577"/>
        <pc:sldMkLst>
          <pc:docMk/>
          <pc:sldMk cId="0" sldId="296"/>
        </pc:sldMkLst>
        <pc:spChg chg="mod">
          <ac:chgData name="Demers Real" userId="faf31a43-5513-4cc6-abd3-b43fc8e821b1" providerId="ADAL" clId="{7FC66AA7-CAD9-431F-BEAD-6F4ACAA6D751}" dt="2026-10-09T14:34:21.460" v="12" actId="20577"/>
          <ac:spMkLst>
            <pc:docMk/>
            <pc:sldMk cId="0" sldId="296"/>
            <ac:spMk id="30" creationId="{00000000-0000-0000-0000-000000000000}"/>
          </ac:spMkLst>
        </pc:spChg>
      </pc:sldChg>
      <pc:sldChg chg="addSp modSp mod">
        <pc:chgData name="Demers Real" userId="faf31a43-5513-4cc6-abd3-b43fc8e821b1" providerId="ADAL" clId="{7FC66AA7-CAD9-431F-BEAD-6F4ACAA6D751}" dt="2026-10-09T14:36:17.064" v="73" actId="20577"/>
        <pc:sldMkLst>
          <pc:docMk/>
          <pc:sldMk cId="0" sldId="299"/>
        </pc:sldMkLst>
        <pc:spChg chg="add mod">
          <ac:chgData name="Demers Real" userId="faf31a43-5513-4cc6-abd3-b43fc8e821b1" providerId="ADAL" clId="{7FC66AA7-CAD9-431F-BEAD-6F4ACAA6D751}" dt="2026-10-09T14:35:04.878" v="14" actId="1076"/>
          <ac:spMkLst>
            <pc:docMk/>
            <pc:sldMk cId="0" sldId="299"/>
            <ac:spMk id="38" creationId="{13C04AD8-9457-B2B2-7903-0765A30936E8}"/>
          </ac:spMkLst>
        </pc:spChg>
        <pc:spChg chg="add mod">
          <ac:chgData name="Demers Real" userId="faf31a43-5513-4cc6-abd3-b43fc8e821b1" providerId="ADAL" clId="{7FC66AA7-CAD9-431F-BEAD-6F4ACAA6D751}" dt="2026-10-09T14:35:48.644" v="50" actId="20577"/>
          <ac:spMkLst>
            <pc:docMk/>
            <pc:sldMk cId="0" sldId="299"/>
            <ac:spMk id="41" creationId="{B77AC82B-299C-D2F6-0A58-2C43A5640A1C}"/>
          </ac:spMkLst>
        </pc:spChg>
        <pc:spChg chg="add mod">
          <ac:chgData name="Demers Real" userId="faf31a43-5513-4cc6-abd3-b43fc8e821b1" providerId="ADAL" clId="{7FC66AA7-CAD9-431F-BEAD-6F4ACAA6D751}" dt="2026-10-09T14:36:17.064" v="73" actId="20577"/>
          <ac:spMkLst>
            <pc:docMk/>
            <pc:sldMk cId="0" sldId="299"/>
            <ac:spMk id="43" creationId="{0DDBB869-0D63-752A-902E-6536D4F0F11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Introduce the principles and technical concepts of building an EDA architecture.</a:t>
            </a:r>
          </a:p>
          <a:p>
            <a:r>
              <a:rPr lang="en-US" dirty="0"/>
              <a:t>This presentation follows the project's English documentation.</a:t>
            </a:r>
          </a:p>
          <a:p>
            <a:r>
              <a:rPr lang="en-US" dirty="0"/>
              <a:t>The appendices serve as reference material without interrupting the main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pPr marL="171450" indent="-171450">
              <a:buFont typeface="Arial" panose="020B0604020202020204" pitchFamily="34" charset="0"/>
              <a:buChar char="•"/>
            </a:pPr>
            <a:r>
              <a:rPr lang="en-US" dirty="0"/>
              <a:t>Underestimates the complexity of EDA.</a:t>
            </a:r>
          </a:p>
          <a:p>
            <a:pPr marL="171450" indent="-171450">
              <a:buFont typeface="Arial" panose="020B0604020202020204" pitchFamily="34" charset="0"/>
              <a:buChar char="•"/>
            </a:pPr>
            <a:r>
              <a:rPr lang="en-US" dirty="0"/>
              <a:t>We want to rely on external partners (they don't have the expertise).</a:t>
            </a:r>
          </a:p>
          <a:p>
            <a:pPr marL="171450" indent="-171450">
              <a:buFont typeface="Arial" panose="020B0604020202020204" pitchFamily="34" charset="0"/>
              <a:buChar char="•"/>
            </a:pPr>
            <a:r>
              <a:rPr lang="en-US" dirty="0"/>
              <a:t>Transfer/communicate/share the expertise of resources who have actually implemented resilient systems.</a:t>
            </a:r>
          </a:p>
          <a:p>
            <a:endParaRPr lang="en-US"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presentation outline is a progression through continuous learning.</a:t>
            </a:r>
          </a:p>
          <a:p>
            <a:pPr marL="171450" indent="-171450">
              <a:buFont typeface="Arial" panose="020B0604020202020204" pitchFamily="34" charset="0"/>
              <a:buChar char="•"/>
            </a:pPr>
            <a:r>
              <a:rPr lang="en-US" dirty="0"/>
              <a:t>We start with the application and the data.</a:t>
            </a:r>
          </a:p>
          <a:p>
            <a:pPr marL="171450" indent="-171450">
              <a:buFont typeface="Arial" panose="020B0604020202020204" pitchFamily="34" charset="0"/>
              <a:buChar char="•"/>
            </a:pPr>
            <a:r>
              <a:rPr lang="en-US" dirty="0"/>
              <a:t>Kafka comes next, to understand where messages travel.</a:t>
            </a:r>
          </a:p>
          <a:p>
            <a:pPr marL="171450" indent="-171450">
              <a:buFont typeface="Arial" panose="020B0604020202020204" pitchFamily="34" charset="0"/>
              <a:buChar char="•"/>
            </a:pPr>
            <a:r>
              <a:rPr lang="en-US" dirty="0"/>
              <a:t>Failures justify transactions, idempotence, and persistence patterns.</a:t>
            </a:r>
          </a:p>
          <a:p>
            <a:pPr marL="171450" indent="-171450">
              <a:buFont typeface="Arial" panose="020B0604020202020204" pitchFamily="34" charset="0"/>
              <a:buChar char="•"/>
            </a:pPr>
            <a:r>
              <a:rPr lang="en-US" dirty="0"/>
              <a:t>Flink becomes another execution model to compare.</a:t>
            </a:r>
          </a:p>
          <a:p>
            <a:pPr marL="171450" indent="-171450">
              <a:buFont typeface="Arial" panose="020B0604020202020204" pitchFamily="34" charset="0"/>
              <a:buChar char="•"/>
            </a:pPr>
            <a:r>
              <a:rPr lang="en-US" dirty="0"/>
              <a:t>Distribution leads to operations and elasticity.</a:t>
            </a:r>
          </a:p>
          <a:p>
            <a:pPr marL="171450" indent="-171450">
              <a:buFont typeface="Arial" panose="020B0604020202020204" pitchFamily="34" charset="0"/>
              <a:buChar char="•"/>
            </a:pPr>
            <a:r>
              <a:rPr lang="en-US" dirty="0"/>
              <a:t>Finally, observability, governance, corroboration, and the ETL/SOA/EDA choice close the loop.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Use the iceberg provided in the guide as a metaphor for complexity. The visible part is publishing and consuming. The less visible part includes ordering, partial failures, duplicates, transactions, operations, and data verification.</a:t>
            </a:r>
          </a:p>
          <a:p>
            <a:endParaRPr lang="en-US" dirty="0"/>
          </a:p>
          <a:p>
            <a:r>
              <a:rPr lang="en-US" dirty="0"/>
              <a:t>Do not present this image as a measure of cost or volume. It introduces the central idea of the conclusion: complexity does not disappear, it moves. Opening question: what lets you say that a sale has actually been applied?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a:t>Nuxt provides the interface and Spring Boot exposes the BFF services while also serving the static resources.</a:t>
            </a:r>
          </a:p>
          <a:p>
            <a:pPr marL="171450" indent="-171450">
              <a:buFont typeface="Arial" panose="020B0604020202020204" pitchFamily="34" charset="0"/>
              <a:buChar char="•"/>
            </a:pPr>
            <a:r>
              <a:rPr lang="en-US" dirty="0"/>
              <a:t>Kafka, Flink, and Hazelcast are embedded to make experimentation easier; the database is HSQLDB.</a:t>
            </a:r>
          </a:p>
          <a:p>
            <a:pPr marL="171450" indent="-171450">
              <a:buFont typeface="Arial" panose="020B0604020202020204" pitchFamily="34" charset="0"/>
              <a:buChar char="•"/>
            </a:pPr>
            <a:r>
              <a:rPr lang="en-US" dirty="0"/>
              <a:t>The documentation explicitly states that this project is educational.</a:t>
            </a:r>
          </a:p>
          <a:p>
            <a:pPr marL="171450" indent="-171450">
              <a:buFont typeface="Arial" panose="020B0604020202020204" pitchFamily="34" charset="0"/>
              <a:buChar char="•"/>
            </a:pPr>
            <a:r>
              <a:rPr lang="en-US" dirty="0"/>
              <a:t>Unified packaging is not a universal recommendation: here it serves a goal of local simplicity.</a:t>
            </a:r>
          </a:p>
          <a:p>
            <a:pPr marL="171450" indent="-171450">
              <a:buFont typeface="Arial" panose="020B0604020202020204" pitchFamily="34" charset="0"/>
              <a:buChar char="•"/>
            </a:pPr>
            <a:r>
              <a:rPr lang="en-US" dirty="0"/>
              <a:t>Infrastructure components should generally become external services in production.</a:t>
            </a:r>
          </a:p>
          <a:p>
            <a:pPr marL="171450" indent="-171450">
              <a:buFont typeface="Arial" panose="020B0604020202020204" pitchFamily="34" charset="0"/>
              <a:buChar char="•"/>
            </a:pPr>
            <a:r>
              <a:rPr lang="en-US" dirty="0"/>
              <a:t>This separation will be revisited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project's terminology:</a:t>
            </a:r>
          </a:p>
          <a:p>
            <a:pPr marL="171450" indent="-171450">
              <a:buFont typeface="Arial" panose="020B0604020202020204" pitchFamily="34" charset="0"/>
              <a:buChar char="•"/>
            </a:pPr>
            <a:r>
              <a:rPr lang="en-US" dirty="0"/>
              <a:t>CREDIT corresponds to a sale and removes inventory;</a:t>
            </a:r>
          </a:p>
          <a:p>
            <a:pPr marL="171450" indent="-171450">
              <a:buFont typeface="Arial" panose="020B0604020202020204" pitchFamily="34" charset="0"/>
              <a:buChar char="•"/>
            </a:pPr>
            <a:r>
              <a:rPr lang="en-US" dirty="0"/>
              <a:t>DEBIT adds inventory and credits the customer back.</a:t>
            </a:r>
          </a:p>
          <a:p>
            <a:endParaRPr lang="en-US" dirty="0"/>
          </a:p>
          <a:p>
            <a:r>
              <a:rPr lang="en-US" dirty="0"/>
              <a:t>The meaning can seem counter-intuitive (we take the inventory's perspective), hence the need to clarify it.</a:t>
            </a:r>
          </a:p>
          <a:p>
            <a:r>
              <a:rPr lang="en-US" dirty="0"/>
              <a:t>REQUEST is the request to process, PERSON holds the balance, PRODUCT the price, and INVENTORY the available quantity. The PENDING, BACK_ORDER, EXECUTED, and ERROR results will be reused in the idempotence and corroboration explanations. The non-negative inventory invariant is a business goal, not a guarantee already enforced in every Sandbox mode. The options: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Key activation,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Artificial latency,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Replay,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Flink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Startup and reset actions.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compare two runs, keep the same dataset and change only one variable. The expected effects are those described in the guide, not a new measurement. Do not reset a batch that is still in progress during the demonstration. Prepare and verify the version used before class.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 order:</a:t>
            </a:r>
          </a:p>
          <a:p>
            <a:pPr marL="171450" indent="-171450">
              <a:buFont typeface="Arial" panose="020B0604020202020204" pitchFamily="34" charset="0"/>
              <a:buChar char="•"/>
            </a:pPr>
            <a:r>
              <a:rPr lang="en-US" dirty="0"/>
              <a:t>The interface submits the action;</a:t>
            </a:r>
          </a:p>
          <a:p>
            <a:pPr marL="171450" indent="-171450">
              <a:buFont typeface="Arial" panose="020B0604020202020204" pitchFamily="34" charset="0"/>
              <a:buChar char="•"/>
            </a:pPr>
            <a:r>
              <a:rPr lang="en-US" dirty="0"/>
              <a:t>PipelineSrv publishes the requests to the direct path's topic;</a:t>
            </a:r>
          </a:p>
          <a:p>
            <a:pPr marL="171450" indent="-171450">
              <a:buFont typeface="Arial" panose="020B0604020202020204" pitchFamily="34" charset="0"/>
              <a:buChar char="•"/>
            </a:pPr>
            <a:r>
              <a:rPr lang="en-US" dirty="0"/>
              <a:t>the listener receives each record;</a:t>
            </a:r>
          </a:p>
          <a:p>
            <a:pPr marL="171450" indent="-171450">
              <a:buFont typeface="Arial" panose="020B0604020202020204" pitchFamily="34" charset="0"/>
              <a:buChar char="•"/>
            </a:pPr>
            <a:r>
              <a:rPr lang="en-US" dirty="0"/>
              <a:t>PipelineSrv.handle coordinates, then ProcessorSrv.process applies the business work.</a:t>
            </a:r>
          </a:p>
          <a:p>
            <a:endParaRPr lang="en-US" dirty="0"/>
          </a:p>
          <a:p>
            <a:r>
              <a:rPr lang="en-US" dirty="0"/>
              <a:t>The listener acknowledges after the transactional processing returns. Both the Kafka and Flink modes will share this business core. Ask the audience where a failure could occur: each arrow opens a question that the next sections will address.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Normalizing the information to be transported is essential.</a:t>
            </a:r>
          </a:p>
          <a:p>
            <a:r>
              <a:rPr lang="en-US" dirty="0"/>
              <a:t>This activity helps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the two extremes, then the possible trade-off.</a:t>
            </a:r>
          </a:p>
          <a:p>
            <a:pPr marL="171450" indent="-171450">
              <a:buFont typeface="Arial" panose="020B0604020202020204" pitchFamily="34" charset="0"/>
              <a:buChar char="•"/>
            </a:pPr>
            <a:r>
              <a:rPr lang="en-US" dirty="0"/>
              <a:t>A Fat pipe mixes events together and complicates responsibility, filtering, schemas, and key choice.</a:t>
            </a:r>
          </a:p>
          <a:p>
            <a:pPr marL="171450" indent="-171450">
              <a:buFont typeface="Arial" panose="020B0604020202020204" pitchFamily="34" charset="0"/>
              <a:buChar char="•"/>
            </a:pPr>
            <a:r>
              <a:rPr lang="en-US" dirty="0"/>
              <a:t>Specialized Thin pipes clarify contracts, but fragment sequences across topics and increase operational surface.</a:t>
            </a:r>
          </a:p>
          <a:p>
            <a:pPr marL="171450" indent="-171450">
              <a:buFont typeface="Arial" panose="020B0604020202020204" pitchFamily="34" charset="0"/>
              <a:buChar char="•"/>
            </a:pPr>
            <a:r>
              <a:rPr lang="en-US" dirty="0"/>
              <a:t>The proposed orientation is to group events from the same entity or aggregate when their order matters, while isolating data when its requirements demand it.</a:t>
            </a:r>
          </a:p>
          <a:p>
            <a:endParaRPr lang="en-US" dirty="0"/>
          </a:p>
          <a:p>
            <a:r>
              <a:rPr lang="en-US" dirty="0"/>
              <a:t>Important:</a:t>
            </a:r>
          </a:p>
          <a:p>
            <a:r>
              <a:rPr lang="en-US" dirty="0"/>
              <a:t>The Sandbox's topics focus on request processing and its DLT; the project does not model an entire enterprise catalog.
Note:</a:t>
            </a:r>
          </a:p>
          <a:p>
            <a:r>
              <a:rPr lang="en-US" dirty="0"/>
              <a:t>The chosen orientation also serves to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topic contains partitions. Each partition is an ordered log. The offset is a record's position within that partition; the group's committed offset marks its recovery point.</a:t>
            </a:r>
          </a:p>
          <a:p>
            <a:endParaRPr lang="en-US" dirty="0"/>
          </a:p>
          <a:p>
            <a:r>
              <a:rPr lang="en-US" dirty="0"/>
              <a:t>Within a group, a partition is assigned to only one active consumer at a time. The diagram deliberately simplifies the number of partitions and consumers; it does not represent the archive's actual configuration values.</a:t>
            </a:r>
          </a:p>
          <a:p>
            <a:endParaRPr lang="en-US" dirty="0"/>
          </a:p>
          <a:p>
            <a:r>
              <a:rPr lang="en-US" dirty="0"/>
              <a:t>Do not talk about an exactly-once guarantee yet: ordering and position tracking are not a guarantee on SQL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diagram illustrates an imbalance.</a:t>
            </a:r>
          </a:p>
          <a:p>
            <a:r>
              <a:rPr lang="en-US" dirty="0"/>
              <a:t>A very dominant key concentrates traffic on one partition (or a few partitions).</a:t>
            </a:r>
          </a:p>
          <a:p>
            <a:endParaRPr lang="en-US" dirty="0"/>
          </a:p>
          <a:p>
            <a:r>
              <a:rPr lang="en-US" dirty="0"/>
              <a:t>Increasing the number of consumers does not split that partition's work.</a:t>
            </a:r>
          </a:p>
          <a:p>
            <a:r>
              <a:rPr lang="en-US" dirty="0"/>
              <a:t>Before changing the partitioning, go back to the per-entity ordering requirement.</a:t>
            </a:r>
          </a:p>
          <a:p>
            <a:endParaRPr lang="en-US" dirty="0"/>
          </a:p>
          <a:p>
            <a:r>
              <a:rPr lang="en-US" dirty="0"/>
              <a:t>Distribution, locks, the SQL database, and external calls must be considered together.</a:t>
            </a:r>
          </a:p>
          <a:p>
            <a:r>
              <a:rPr lang="en-US" dirty="0"/>
              <a:t>Several mitigations are possible, but the deck does not turn them into a universal recipe: the trade-off between ordering and throughput must be made explicit.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Sandbox uses productId as the partition key.</a:t>
            </a:r>
          </a:p>
          <a:p>
            <a:r>
              <a:rPr lang="en-US" dirty="0"/>
              <a:t>With an unchanged number of partitions, requests for the same product land on the same partition.</a:t>
            </a:r>
          </a:p>
          <a:p>
            <a:r>
              <a:rPr lang="en-US" dirty="0"/>
              <a:t>In the direct path shown, they are processed sequentially by the consumer that owns that partition.</a:t>
            </a:r>
          </a:p>
          <a:p>
            <a:r>
              <a:rPr lang="en-US" dirty="0"/>
              <a:t>Without a key, they can end up on several partitions and run in parallel. Do not turn this local guarantee into global ordering.</a:t>
            </a:r>
          </a:p>
          <a:p>
            <a:endParaRPr lang="en-US" dirty="0"/>
          </a:p>
          <a:p>
            <a:r>
              <a:rPr lang="en-US" dirty="0"/>
              <a:t>The Sandbox documentation also notes that changing the number of partitions remaps keys and requires planning.</a:t>
            </a:r>
          </a:p>
          <a:p>
            <a:r>
              <a:rPr lang="en-US" dirty="0"/>
              <a:t>The question of key choice therefore comes before the question of the number of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presents the reports included in the Sandbox project.</a:t>
            </a:r>
          </a:p>
          <a:p>
            <a:r>
              <a:rPr lang="en-US" dirty="0"/>
              <a:t>It is not a new run, nor a prediction of the figure obtained on every attempt.</a:t>
            </a:r>
          </a:p>
          <a:p>
            <a:endParaRPr lang="en-US" dirty="0"/>
          </a:p>
          <a:p>
            <a:r>
              <a:rPr lang="en-US" dirty="0"/>
              <a:t>With the key, the report documents non-negative quantities and BACK_ORDER requests when inventory is insufficient.</a:t>
            </a:r>
          </a:p>
          <a:p>
            <a:r>
              <a:rPr lang="en-US" dirty="0"/>
              <a:t>Without the key, Banana sits at -10.</a:t>
            </a:r>
          </a:p>
          <a:p>
            <a:endParaRPr lang="en-US" dirty="0"/>
          </a:p>
          <a:p>
            <a:r>
              <a:rPr lang="en-US" dirty="0"/>
              <a:t>Question:</a:t>
            </a:r>
          </a:p>
          <a:p>
            <a:r>
              <a:rPr lang="en-US" dirty="0"/>
              <a:t>Would a dashboard showing that messages were consumed be enough to detect this business anomaly?</a:t>
            </a:r>
          </a:p>
          <a:p>
            <a:pPr marL="171450" indent="-171450">
              <a:buFont typeface="Arial" panose="020B0604020202020204" pitchFamily="34" charset="0"/>
              <a:buChar char="•"/>
            </a:pPr>
            <a:r>
              <a:rPr lang="en-US" dirty="0"/>
              <a:t>Expected answer: no, you have to observe the state and its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“check-then-act” race as documented: two requests targeting the same person will read the same balance.</a:t>
            </a:r>
          </a:p>
          <a:p>
            <a:r>
              <a:rPr lang="en-US" dirty="0"/>
              <a:t>Both read the same person's balance, pass the check, and then each applies its own balance adjustment.</a:t>
            </a:r>
          </a:p>
          <a:p>
            <a:endParaRPr lang="en-US" dirty="0"/>
          </a:p>
          <a:p>
            <a:r>
              <a:rPr lang="en-US" dirty="0"/>
              <a:t>The per-person in-memory “Datagrid” lock is the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traditional “SQL” approach is not the right one: pessimistic locking, optimistic locking, or a conditional UPDATE (where clause).</a:t>
            </a:r>
          </a:p>
          <a:p>
            <a:pPr marL="171450" indent="-171450">
              <a:buFont typeface="Arial" panose="020B0604020202020204" pitchFamily="34" charset="0"/>
              <a:buChar char="•"/>
            </a:pPr>
            <a:r>
              <a:rPr lang="en-US" dirty="0"/>
              <a:t>Breaks horizontal elasticity.</a:t>
            </a:r>
          </a:p>
          <a:p>
            <a:pPr marL="171450" indent="-171450">
              <a:buFont typeface="Arial" panose="020B0604020202020204" pitchFamily="34" charset="0"/>
              <a:buChar char="•"/>
            </a:pPr>
            <a:r>
              <a:rPr lang="en-US" dirty="0"/>
              <a:t>Generates DLT.</a:t>
            </a:r>
          </a:p>
          <a:p>
            <a:pPr marL="171450" indent="-171450">
              <a:buFont typeface="Arial" panose="020B0604020202020204" pitchFamily="34" charset="0"/>
              <a:buChar char="•"/>
            </a:pPr>
            <a:r>
              <a:rPr lang="en-US" dirty="0"/>
              <a:t>Consumes resources. Causes rebalance storms.</a:t>
            </a:r>
          </a:p>
          <a:p>
            <a:endParaRPr lang="en-US"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are three possible guarantees:</a:t>
            </a:r>
          </a:p>
          <a:p>
            <a:pPr marL="171450" indent="-171450">
              <a:buFont typeface="Arial" panose="020B0604020202020204" pitchFamily="34" charset="0"/>
              <a:buChar char="•"/>
            </a:pPr>
            <a:r>
              <a:rPr lang="en-US" dirty="0"/>
              <a:t>At-most-once accepts a possible loss when the position is committed before the work.</a:t>
            </a:r>
          </a:p>
          <a:p>
            <a:pPr marL="171450" indent="-171450">
              <a:buFont typeface="Arial" panose="020B0604020202020204" pitchFamily="34" charset="0"/>
              <a:buChar char="•"/>
            </a:pPr>
            <a:r>
              <a:rPr lang="en-US" dirty="0"/>
              <a:t>At-least-once accepts redelivery when the work is committed before the offset.</a:t>
            </a:r>
          </a:p>
          <a:p>
            <a:pPr marL="171450" indent="-171450">
              <a:buFont typeface="Arial" panose="020B0604020202020204" pitchFamily="34" charset="0"/>
              <a:buChar char="•"/>
            </a:pPr>
            <a:r>
              <a:rPr lang="en-US" dirty="0"/>
              <a:t>Kafka EOS makes the Kafka results and source offsets atomic within a read-process-write loop, but does not automatically cover the SQL database or a remote call.</a:t>
            </a:r>
          </a:p>
          <a:p>
            <a:endParaRPr lang="en-US" dirty="0"/>
          </a:p>
          <a:p>
            <a:r>
              <a:rPr lang="en-US" dirty="0"/>
              <a:t>The Sandbox project's choice: at-least-once plus idempotent processing. Publication durability also depends on producer configuration and replication; no wording here should become an absolute promise of no loss.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few facts:</a:t>
            </a:r>
          </a:p>
          <a:p>
            <a:pPr marL="171450" indent="-171450">
              <a:buFont typeface="Arial" panose="020B0604020202020204" pitchFamily="34" charset="0"/>
              <a:buChar char="•"/>
            </a:pPr>
            <a:r>
              <a:rPr lang="en-US" dirty="0"/>
              <a:t>Producer idempotence protects against duplicates from its own retries, not against two application-level publications of the same fact.</a:t>
            </a:r>
          </a:p>
          <a:p>
            <a:pPr marL="171450" indent="-171450">
              <a:buFont typeface="Arial" panose="020B0604020202020204" pitchFamily="34" charset="0"/>
              <a:buChar char="•"/>
            </a:pPr>
            <a:r>
              <a:rPr lang="en-US" dirty="0"/>
              <a:t>A Kafka transaction defines a set of publications that is committed or aborted as a whole.</a:t>
            </a:r>
          </a:p>
          <a:p>
            <a:pPr marL="171450" indent="-171450">
              <a:buFont typeface="Arial" panose="020B0604020202020204" pitchFamily="34" charset="0"/>
              <a:buChar char="•"/>
            </a:pPr>
            <a:r>
              <a:rPr lang="en-US" dirty="0"/>
              <a:t>read_committed prevents the consumer from returning messages from aborted transactions, and waits for their outcome.</a:t>
            </a:r>
          </a:p>
          <a:p>
            <a:endParaRPr lang="en-US" dirty="0"/>
          </a:p>
          <a:p>
            <a:r>
              <a:rPr lang="en-US" dirty="0"/>
              <a:t>The guide documents this combination for the direct path. Do not infer a SQL commit from it, nor assume that every Kafka client built separately inherits the same configuration.</a:t>
            </a:r>
          </a:p>
          <a:p>
            <a:r>
              <a:rPr lang="en-US" dirty="0"/>
              <a:t>Each source/consumer must be examined within its own scope.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Do not confuse flush, method return, and commit!!!</a:t>
            </a:r>
          </a:p>
          <a:p>
            <a:r>
              <a:rPr lang="en-US" dirty="0"/>
              <a:t>The processing is invoked through its transactional proxy; the listener acknowledges after that processing returns.</a:t>
            </a:r>
          </a:p>
          <a:p>
            <a:r>
              <a:rPr lang="en-US" dirty="0"/>
              <a:t>If the SQL commit succeeded but the process stops before the acknowledgement, the message will come back.</a:t>
            </a:r>
          </a:p>
          <a:p>
            <a:endParaRPr lang="en-US" dirty="0"/>
          </a:p>
          <a:p>
            <a:r>
              <a:rPr lang="en-US" dirty="0"/>
              <a:t>An acknowledgement placed before a SQL commit that is ultimately rolled back could, conversely, lose the expected effect.</a:t>
            </a:r>
          </a:p>
          <a:p>
            <a:r>
              <a:rPr lang="en-US" dirty="0"/>
              <a:t>The afterCommit callback makes the order explicit, but does not remove the failure window.</a:t>
            </a:r>
          </a:p>
          <a:p>
            <a:endParaRPr lang="en-US" dirty="0"/>
          </a:p>
          <a:p>
            <a:r>
              <a:rPr lang="en-US" dirty="0"/>
              <a:t>Question:</a:t>
            </a:r>
          </a:p>
          <a:p>
            <a:pPr marL="171450" indent="-171450">
              <a:buFont typeface="Arial" panose="020B0604020202020204" pitchFamily="34" charset="0"/>
              <a:buChar char="•"/>
            </a:pPr>
            <a:r>
              <a:rPr lang="en-US" dirty="0"/>
              <a:t>Should every redelivery be prevented, or should its effects be made safe? Answer: design the processing to be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business result indicates whether the request is still PENDING or BACK_ORDER, or already settled.</a:t>
            </a:r>
          </a:p>
          <a:p>
            <a:r>
              <a:rPr lang="en-US" dirty="0"/>
              <a:t>When a header is present, the journal is looked up on the composite key CONSUMER_ID, EVENT_ID.</a:t>
            </a:r>
          </a:p>
          <a:p>
            <a:endParaRPr lang="en-US" dirty="0"/>
          </a:p>
          <a:p>
            <a:r>
              <a:rPr lang="en-US" dirty="0"/>
              <a:t>Inserting or updating this marker and the business effects belong to the same SQL transaction.</a:t>
            </a:r>
          </a:p>
          <a:p>
            <a:endParaRPr lang="en-US" dirty="0"/>
          </a:p>
          <a:p>
            <a:r>
              <a:rPr lang="en-US" dirty="0"/>
              <a:t>A uniqueness constraint remains the deduplication authority under concurrency.</a:t>
            </a:r>
          </a:p>
          <a:p>
            <a:r>
              <a:rPr lang="en-US" dirty="0"/>
              <a:t>It is not the commit. Keep identity, processing type, and its result distinct.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DLT stands for Dead Letter Topic:</a:t>
            </a:r>
          </a:p>
          <a:p>
            <a:pPr marL="171450" indent="-171450">
              <a:buFont typeface="Arial" panose="020B0604020202020204" pitchFamily="34" charset="0"/>
              <a:buChar char="•"/>
            </a:pPr>
            <a:r>
              <a:rPr lang="en-US" dirty="0"/>
              <a:t>A topic dedicated to failures that need analysis.</a:t>
            </a:r>
          </a:p>
          <a:p>
            <a:pPr marL="171450" indent="-171450">
              <a:buFont typeface="Arial" panose="020B0604020202020204" pitchFamily="34" charset="0"/>
              <a:buChar char="•"/>
            </a:pPr>
            <a:r>
              <a:rPr lang="en-US" dirty="0"/>
              <a:t>A retry processes a failure again, under a bounded policy.</a:t>
            </a:r>
          </a:p>
          <a:p>
            <a:pPr marL="171450" indent="-171450">
              <a:buFont typeface="Arial" panose="020B0604020202020204" pitchFamily="34" charset="0"/>
              <a:buChar char="•"/>
            </a:pPr>
            <a:r>
              <a:rPr lang="en-US" dirty="0"/>
              <a:t>A redelivery can occur after a failure and an offset recovery.</a:t>
            </a:r>
          </a:p>
          <a:p>
            <a:pPr marL="171450" indent="-171450">
              <a:buFont typeface="Arial" panose="020B0604020202020204" pitchFamily="34" charset="0"/>
              <a:buChar char="•"/>
            </a:pPr>
            <a:r>
              <a:rPr lang="en-US" dirty="0"/>
              <a:t>A replay is a reprocessing decision and must respect business rules and idempotence.</a:t>
            </a:r>
          </a:p>
          <a:p>
            <a:pPr marL="171450" indent="-171450">
              <a:buFont typeface="Arial" panose="020B0604020202020204" pitchFamily="34" charset="0"/>
              <a:buChar char="•"/>
            </a:pPr>
            <a:r>
              <a:rPr lang="en-US" dirty="0"/>
              <a:t>Both the Kafka and Flink paths have DLTs.</a:t>
            </a:r>
          </a:p>
          <a:p>
            <a:endParaRPr lang="en-US" dirty="0"/>
          </a:p>
          <a:p>
            <a:r>
              <a:rPr lang="en-US" dirty="0"/>
              <a:t>A durable failure must retain enough context for analysis.</a:t>
            </a:r>
          </a:p>
          <a:p>
            <a:r>
              <a:rPr lang="en-US" dirty="0"/>
              <a:t>Do not turn the DLT into a way to forget about errors:</a:t>
            </a:r>
          </a:p>
          <a:p>
            <a:pPr marL="171450" indent="-171450">
              <a:buFont typeface="Arial" panose="020B0604020202020204" pitchFamily="34" charset="0"/>
              <a:buChar char="•"/>
            </a:pPr>
            <a:r>
              <a:rPr lang="en-US" dirty="0"/>
              <a:t>Governance and operations must define who analyzes, fixes, and relaunches.</a:t>
            </a:r>
          </a:p>
          <a:p>
            <a:pPr marL="171450" indent="-171450">
              <a:buFont typeface="Arial" panose="020B0604020202020204" pitchFamily="34" charset="0"/>
              <a:buChar char="•"/>
            </a:pPr>
            <a:r>
              <a:rPr lang="en-US" dirty="0"/>
              <a:t>Do not present here a universal guarantee about non-retryable exceptions; their classification must be verified in the version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direct mode uses APP-Kafka-Requests, then KafkaPipelineListener. The Flink mode uses APP-Flink-requests, a Flink job, and ProcessorSink.</a:t>
            </a:r>
          </a:p>
          <a:p>
            <a:r>
              <a:rPr lang="en-US" dirty="0"/>
              <a:t>Both then delegate to the PipelineSrv.handle core and the transactional processor.</a:t>
            </a:r>
          </a:p>
          <a:p>
            <a:endParaRPr lang="en-US" dirty="0"/>
          </a:p>
          <a:p>
            <a:r>
              <a:rPr lang="en-US" dirty="0"/>
              <a:t>The documentation describes the sandbox's job as a source and a sink, with no intermediate transformation. This simplicity makes it possible to compare the progress and recovery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checkpoint keeps a recovery point, including the source's offsets, within its state.</a:t>
            </a:r>
          </a:p>
          <a:p>
            <a:r>
              <a:rPr lang="en-US" dirty="0"/>
              <a:t>The essential point is the recovery boundary:</a:t>
            </a:r>
          </a:p>
          <a:p>
            <a:pPr marL="171450" indent="-171450">
              <a:buFont typeface="Arial" panose="020B0604020202020204" pitchFamily="34" charset="0"/>
              <a:buChar char="•"/>
            </a:pPr>
            <a:r>
              <a:rPr lang="en-US" dirty="0"/>
              <a:t>The last completed checkpoint.</a:t>
            </a:r>
          </a:p>
          <a:p>
            <a:pPr marL="171450" indent="-171450">
              <a:buFont typeface="Arial" panose="020B0604020202020204" pitchFamily="34" charset="0"/>
              <a:buChar char="•"/>
            </a:pPr>
            <a:r>
              <a:rPr lang="en-US" dirty="0"/>
              <a:t>The sink's SQL commits happen per record, independently of that boundary.</a:t>
            </a:r>
          </a:p>
          <a:p>
            <a:endParaRPr lang="en-US" dirty="0"/>
          </a:p>
          <a:p>
            <a:r>
              <a:rPr lang="en-US" dirty="0"/>
              <a:t>After a failure, some SQL effects that were already committed can therefore be requested again. Idempotence protects the business state; it does not automatically make every counter idempotent. The guide explicitly flags this limitation for completion statistics.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bridge between the sink and the Spring service is an educational shortcut that is valid within the MiniCluster's JVM.</a:t>
            </a:r>
          </a:p>
          <a:p>
            <a:r>
              <a:rPr lang="en-US" dirty="0"/>
              <a:t>It cannot be carried over as-is to remote TaskManagers.</a:t>
            </a:r>
          </a:p>
          <a:p>
            <a:endParaRPr lang="en-US" dirty="0"/>
          </a:p>
          <a:p>
            <a:r>
              <a:rPr lang="en-US" dirty="0"/>
              <a:t>The documented options include emitting to Kafka followed by a Spring consumer, a supported native sink, or a service call.</a:t>
            </a:r>
          </a:p>
          <a:p>
            <a:r>
              <a:rPr lang="en-US" dirty="0"/>
              <a:t>Another documented limitation of the value-only path: the Kafka key and headers do not cross the Flink boundary as-is.</a:t>
            </a:r>
          </a:p>
          <a:p>
            <a:endParaRPr lang="en-US" dirty="0"/>
          </a:p>
          <a:p>
            <a:r>
              <a:rPr lang="en-US" dirty="0"/>
              <a:t>These differences must remain visible in the comparison.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pod, the consumer thread, and the partition.</a:t>
            </a:r>
          </a:p>
          <a:p>
            <a:r>
              <a:rPr lang="en-US" dirty="0"/>
              <a:t>Useful parallelism is the minimum between the number of partitions and pods multiplied by threads per pod.</a:t>
            </a:r>
          </a:p>
          <a:p>
            <a:endParaRPr lang="en-US" dirty="0"/>
          </a:p>
          <a:p>
            <a:r>
              <a:rPr lang="en-US" dirty="0"/>
              <a:t>The table is a sizing example with eight partitions.</a:t>
            </a:r>
          </a:p>
          <a:p>
            <a:r>
              <a:rPr lang="en-US" dirty="0"/>
              <a:t>It does not certify the actual configuration values of every version of the project.</a:t>
            </a:r>
          </a:p>
          <a:p>
            <a:endParaRPr lang="en-US" dirty="0"/>
          </a:p>
          <a:p>
            <a:r>
              <a:rPr lang="en-US" dirty="0"/>
              <a:t>Ask how many threads are useful with five pods and two threads each:</a:t>
            </a:r>
          </a:p>
          <a:p>
            <a:pPr marL="171450" indent="-171450">
              <a:buFont typeface="Arial" panose="020B0604020202020204" pitchFamily="34" charset="0"/>
              <a:buChar char="•"/>
            </a:pPr>
            <a:r>
              <a:rPr lang="en-US" dirty="0"/>
              <a:t>Eight out of ten, at most.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two concepts are related but different. In an EDA architecture — particularly with Kafka — lag can be an indirect indicator of latency, but it is not latency itself.</a:t>
            </a:r>
          </a:p>
          <a:p>
            <a:endParaRPr lang="en-US" dirty="0"/>
          </a:p>
          <a:p>
            <a:r>
              <a:rPr lang="en-US" dirty="0"/>
              <a:t>Lag</a:t>
            </a:r>
          </a:p>
          <a:p>
            <a:endParaRPr lang="en-US" dirty="0"/>
          </a:p>
          <a:p>
            <a:r>
              <a:rPr lang="en-US" dirty="0"/>
              <a:t>Consumer lag generally measures a position gap.</a:t>
            </a:r>
          </a:p>
          <a:p>
            <a:r>
              <a:rPr lang="en-US" dirty="0"/>
              <a:t>Kafka holds messages up to offset `10,000`, while the consumer is at `9,500` → lag = 500 messages.</a:t>
            </a:r>
          </a:p>
          <a:p>
            <a:r>
              <a:rPr lang="en-US" dirty="0"/>
              <a:t>Lag answers the question: how many messages is the consumer behind by?</a:t>
            </a:r>
          </a:p>
          <a:p>
            <a:endParaRPr lang="en-US" dirty="0"/>
          </a:p>
          <a:p>
            <a:r>
              <a:rPr lang="en-US" dirty="0"/>
              <a:t>Latency</a:t>
            </a:r>
          </a:p>
          <a:p>
            <a:endParaRPr lang="en-US" dirty="0"/>
          </a:p>
          <a:p>
            <a:r>
              <a:rPr lang="en-US" dirty="0"/>
              <a:t>Latency measures a duration.</a:t>
            </a:r>
          </a:p>
          <a:p>
            <a:r>
              <a:rPr lang="en-US" dirty="0"/>
              <a:t>How long does it take for an event to be processed end to end?</a:t>
            </a:r>
          </a:p>
          <a:p>
            <a:endParaRPr lang="en-US" dirty="0"/>
          </a:p>
          <a:p>
            <a:r>
              <a:rPr lang="en-US" dirty="0"/>
              <a:t>The relationship between the two</a:t>
            </a:r>
          </a:p>
          <a:p>
            <a:endParaRPr lang="en-US" dirty="0"/>
          </a:p>
          <a:p>
            <a:r>
              <a:rPr lang="en-US" dirty="0"/>
              <a:t>High lag can cause high latency, but the relationship is not direct:</a:t>
            </a:r>
          </a:p>
          <a:p>
            <a:r>
              <a:rPr lang="en-US" dirty="0"/>
              <a:t>Conversely, a consumer can have a lag of just 1 message but high latency if processing that message takes 30 seconds.</a:t>
            </a:r>
          </a:p>
          <a:p>
            <a:endParaRPr lang="en-US" dirty="0"/>
          </a:p>
          <a:p>
            <a:r>
              <a:rPr lang="en-US" dirty="0"/>
              <a:t>Lag is not a latency measure in the strict sense. It measures a consumer's processing backlog. However, its increase is often an indicator of degraded processing capacity and can lead to higher end-to-end latency.</a:t>
            </a:r>
          </a:p>
          <a:p>
            <a:endParaRPr lang="en-US" dirty="0"/>
          </a:p>
          <a:p>
            <a:r>
              <a:rPr lang="en-US" dirty="0"/>
              <a:t>For EDA observability, lag and latency are complementary: lag shows the accumulation of backlog, while latency shows the actual time impact on events.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Rebalancing redistributes partitions when the group's composition changes. It can cause an interruption and the redelivery of unacknowledged records; its impact depends on the protocol and strategy. Batch and timeout tuning must reflect the work's duration. Cooperative mechanisms, stable identity, and scaling stabilization reduce some of this churn, without removing the need for idempotence. Do not state a universal rebalancing duration.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Horizontal elasticity</a:t>
            </a:r>
          </a:p>
          <a:p>
            <a:pPr rtl="0"/>
            <a:r>
              <a:rPr lang="en-US" dirty="0"/>
              <a:t>The trap with an EDA/Kafka architecture: CPU is not a good load signal for a Kafka consumer. A consumer can build up a huge lag (processing backlog) while CPU stays low, because it spends its time waiting on the broker, a distributed lock, or a DB commit — I/O, not compute. Result: HPA/CPU doesn't scale at the right time, and can even scale for the wrong reasons (unnecessary rebalances, pods sitting idle beyond the number of partitions, since a group can only have one active consumer per partition).</a:t>
            </a:r>
          </a:p>
          <a:p>
            <a:pPr rtl="0"/>
            <a:endParaRPr lang="en-US" dirty="0"/>
          </a:p>
          <a:p>
            <a:pPr rtl="0"/>
            <a:r>
              <a:rPr lang="en-US" dirty="0"/>
              <a:t>This is where KEDA comes in: it adds a scaler able to drive the number of replicas from an external business metric — here, the Kafka consumer group's lag — instead of CPU. Under the hood, KEDA still generates an HPA, but one fed by this external metric.</a:t>
            </a:r>
          </a:p>
          <a:p>
            <a:pPr rtl="0"/>
            <a:endParaRPr lang="en-US" dirty="0"/>
          </a:p>
          <a:p>
            <a:pPr rtl="0"/>
            <a:r>
              <a:rPr lang="en-US" dirty="0"/>
              <a:t>Why Karpenter alone is not enough</a:t>
            </a:r>
          </a:p>
          <a:p>
            <a:pPr rtl="0"/>
            <a:r>
              <a:rPr lang="en-US" dirty="0"/>
              <a:t>Karpenter never creates pods itself — it reacts to scheduling pressure already created by something else (HPA, KEDA, or a manual deployment). Without KEDA (or an HPA), nothing tells Kubernetes how many consumer replicas are needed; Karpenter then has no signal to observe. And a classic CPU-based HPA would be a poor proxy for lag, as explained above, on top of ignoring the hard ceiling imposed by the number of Kafka partitions.</a:t>
            </a:r>
          </a:p>
          <a:p>
            <a:endParaRPr lang="en-US"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distinction specific to the Spring Kafka container. pause suspends requesting new records while keeping the consumer alive in the group. stop stops the container and causes a change in group composition.</a:t>
            </a:r>
          </a:p>
          <a:p>
            <a:endParaRPr lang="en-US" dirty="0"/>
          </a:p>
          <a:p>
            <a:r>
              <a:rPr lang="en-US" dirty="0"/>
              <a:t>This does not mean pause can guarantee the absence of any rebalance caused elsewhere in the cluster; it means that, by itself, it does not require leaving the group. In the sandbox, pause events decouple the pipeline's core from the transport components. Have the audience compare this with Flink's savepoint-based pause to consolidate both mental models.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Follow the operational sequence without promising that it covers a machine failure. The platform removes the pod from traffic, optionally runs preStop, sends SIGTERM, then forces SIGKILL if the deadline expires.</a:t>
            </a:r>
          </a:p>
          <a:p>
            <a:endParaRPr lang="en-US" dirty="0"/>
          </a:p>
          <a:p>
            <a:r>
              <a:rPr lang="en-US" dirty="0"/>
              <a:t>The application must stop accepting new work, let in-flight work finish, commit the effects and then the corresponding offsets, and close producers/consumers. The overall deadline includes preStop and the application's shutdown phases.</a:t>
            </a:r>
          </a:p>
          <a:p>
            <a:endParaRPr lang="en-US" dirty="0"/>
          </a:p>
          <a:p>
            <a:r>
              <a:rPr lang="en-US" dirty="0"/>
              <a:t>An abrupt stop can prevent any cleanup; recovery semantics and idempotence therefore remain necessary.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Startup, liveness, and readiness must be distinguished.</a:t>
            </a:r>
          </a:p>
          <a:p>
            <a:pPr marL="171450" indent="-171450">
              <a:buFont typeface="Arial" panose="020B0604020202020204" pitchFamily="34" charset="0"/>
              <a:buChar char="•"/>
            </a:pPr>
            <a:r>
              <a:rPr lang="en-US" dirty="0"/>
              <a:t>Startup protects the startup phase.</a:t>
            </a:r>
          </a:p>
          <a:p>
            <a:pPr marL="171450" indent="-171450">
              <a:buFont typeface="Arial" panose="020B0604020202020204" pitchFamily="34" charset="0"/>
              <a:buChar char="•"/>
            </a:pPr>
            <a:r>
              <a:rPr lang="en-US" dirty="0"/>
              <a:t>Liveness concerns the process's health and can lead to its restart.</a:t>
            </a:r>
          </a:p>
          <a:p>
            <a:pPr marL="171450" indent="-171450">
              <a:buFont typeface="Arial" panose="020B0604020202020204" pitchFamily="34" charset="0"/>
              <a:buChar char="•"/>
            </a:pPr>
            <a:r>
              <a:rPr lang="en-US" dirty="0"/>
              <a:t>Readiness concerns its ability to receive service traffic, and removes the pod from the endpoints without stopping it.</a:t>
            </a:r>
          </a:p>
          <a:p>
            <a:endParaRPr lang="en-US" dirty="0"/>
          </a:p>
          <a:p>
            <a:r>
              <a:rPr lang="en-US" dirty="0"/>
              <a:t>Health indicators must be fast; durations, counters, and gauges belong to metrics. The project provides commands to toggle liveness/readiness and observe Actuator. Stress that HTTP readiness does not replace explicit control over Kafka consumption.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this sheet as a governance template drawn from the guide, not as the inventory of an already-deployed catalog.</a:t>
            </a:r>
          </a:p>
          <a:p>
            <a:r>
              <a:rPr lang="en-US" dirty="0"/>
              <a:t>Document the meaning, the owner, the schema, producers/consumers, service objectives, and access/retention rules.</a:t>
            </a:r>
          </a:p>
          <a:p>
            <a:r>
              <a:rPr lang="en-US" dirty="0"/>
              <a:t>Schema compatibility and the contract's lifecycle must be explicit.</a:t>
            </a:r>
          </a:p>
          <a:p>
            <a:endParaRPr lang="en-US" dirty="0"/>
          </a:p>
          <a:p>
            <a:r>
              <a:rPr lang="en-US" dirty="0"/>
              <a:t>The Data Mesh/Data Fabric documentation notes that the sandbox's Java types form an implicit contract; an enterprise platform must externalize discovery, metadata, and governance.</a:t>
            </a:r>
          </a:p>
          <a:p>
            <a:endParaRPr lang="en-US" dirty="0"/>
          </a:p>
          <a:p>
            <a:r>
              <a:rPr lang="en-US" dirty="0"/>
              <a:t>Question: who is responsible if a message stays stuck in the DLT? That owner belongs to the operational contract.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Data Mesh is about the operating model: domain ownership, data as a product, a self-service platform, and federated governance.</a:t>
            </a:r>
          </a:p>
          <a:p>
            <a:r>
              <a:rPr lang="en-US" dirty="0"/>
              <a:t>Data Fabric is about the shared capabilities that connect distributed data: integration, metadata, quality, access, and observability.</a:t>
            </a:r>
          </a:p>
          <a:p>
            <a:endParaRPr lang="en-US" dirty="0"/>
          </a:p>
          <a:p>
            <a:r>
              <a:rPr lang="en-US" dirty="0"/>
              <a:t>The documentation explains that a hybrid model can combine both, and that Kafka is not mandatory for every data product.</a:t>
            </a:r>
          </a:p>
          <a:p>
            <a:endParaRPr lang="en-US" dirty="0"/>
          </a:p>
          <a:p>
            <a:r>
              <a:rPr lang="en-US" dirty="0"/>
              <a:t>A topic does not automatically become a product, and a Kafka cluster alone does not make a Fabric. The sandbox remains an educational application; it is neither one nor the other at enterprise scale.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Go back to Banana: a pipeline can consume all its messages while still committing an incorrect quantity.</a:t>
            </a:r>
          </a:p>
          <a:p>
            <a:r>
              <a:rPr lang="en-US" dirty="0"/>
              <a:t>Corroboration complements idempotence and delivery guarantees.</a:t>
            </a:r>
          </a:p>
          <a:p>
            <a:endParaRPr lang="en-US" dirty="0"/>
          </a:p>
          <a:p>
            <a:r>
              <a:rPr lang="en-US" dirty="0"/>
              <a:t>In this database-centric project, the relational tables are the system of record; Kafka triggers their mutations.</a:t>
            </a:r>
          </a:p>
          <a:p>
            <a:r>
              <a:rPr lang="en-US" dirty="0"/>
              <a:t>The sandbox should therefore not be presented as an event-sourcing implementation.</a:t>
            </a:r>
          </a:p>
          <a:p>
            <a:endParaRPr lang="en-US" dirty="0"/>
          </a:p>
          <a:p>
            <a:r>
              <a:rPr lang="en-US" dirty="0"/>
              <a:t>Compare executed requests, their quantities and operations, with the expected inventory movements.</a:t>
            </a:r>
          </a:p>
          <a:p>
            <a:r>
              <a:rPr lang="en-US" dirty="0"/>
              <a:t>Counts by result are a first signal; they are not enough to prove every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is no single miracle check.</a:t>
            </a:r>
          </a:p>
          <a:p>
            <a:r>
              <a:rPr lang="en-US" dirty="0"/>
              <a:t>Counts and checksums quickly flag a discrepancy.</a:t>
            </a:r>
          </a:p>
          <a:p>
            <a:r>
              <a:rPr lang="en-US" dirty="0"/>
              <a:t>Snapshots and invariants provide periodic checkpoints.</a:t>
            </a:r>
          </a:p>
          <a:p>
            <a:r>
              <a:rPr lang="en-US" dirty="0"/>
              <a:t>Replay and ghost consumers allow a deeper comparison, in particular for a migration.</a:t>
            </a:r>
          </a:p>
          <a:p>
            <a:r>
              <a:rPr lang="en-US" dirty="0"/>
              <a:t>Hashes require state that is represented deterministically.</a:t>
            </a:r>
          </a:p>
          <a:p>
            <a:r>
              <a:rPr lang="en-US" dirty="0"/>
              <a:t>A discrepancy must be located, classified, repaired, and then logged.</a:t>
            </a:r>
          </a:p>
          <a:p>
            <a:endParaRPr lang="en-US" dirty="0"/>
          </a:p>
          <a:p>
            <a:pPr marL="228600" indent="-228600">
              <a:spcAft>
                <a:spcPts val="1200"/>
              </a:spcAft>
              <a:buSzPct val="100000"/>
              <a:buChar char="▪"/>
            </a:pPr>
            <a:r>
              <a:rPr lang="en-US" dirty="0"/>
              <a:t>Eventual consistency: rebalances, crashes, and network failures create silent discrepancies</a:t>
            </a:r>
          </a:p>
          <a:p>
            <a:pPr marL="228600" indent="-228600">
              <a:spcAft>
                <a:spcPts val="1200"/>
              </a:spcAft>
              <a:buSzPct val="100000"/>
              <a:buChar char="▪"/>
            </a:pPr>
            <a:r>
              <a:rPr lang="en-US" dirty="0"/>
              <a:t>Layered techniques: checksums, snapshots, event replay, ghost consumers</a:t>
            </a:r>
          </a:p>
          <a:p>
            <a:pPr marL="228600" indent="-228600">
              <a:spcAft>
                <a:spcPts val="1200"/>
              </a:spcAft>
              <a:buSzPct val="100000"/>
              <a:buChar char="▪"/>
            </a:pPr>
            <a:r>
              <a:rPr lang="en-US" dirty="0"/>
              <a:t>Business invariants (inventory never negative) as the first visible symptom of drift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conclusion chapter's framing: here, ETL mainly means batch integration, and SOA mainly means synchronous interactions through services/APIs.</a:t>
            </a:r>
          </a:p>
          <a:p>
            <a:r>
              <a:rPr lang="en-US" dirty="0"/>
              <a:t>These definitions set the scope of the comparison; they are not exhaustive definitions.</a:t>
            </a:r>
          </a:p>
          <a:p>
            <a:endParaRPr lang="en-US" dirty="0"/>
          </a:p>
          <a:p>
            <a:r>
              <a:rPr lang="en-US" dirty="0"/>
              <a:t>ETL organizes schedules, transformations, and quality controls. SOA organizes interfaces, calls, and availability dependencies. EDA organizes events, contracts, recovery, and asynchronous effects.</a:t>
            </a:r>
          </a:p>
          <a:p>
            <a:endParaRPr lang="en-US" dirty="0"/>
          </a:p>
          <a:p>
            <a:r>
              <a:rPr lang="en-US" dirty="0"/>
              <a:t>EDA reduces some coupling, but keeps semantic and platform coupling. The guide recommends choosing a mechanism that is sufficient for each interaction, and considers a hybrid model.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TCO/ROI chapter does not provide a costed business case for this project; it provides a decision framework.</a:t>
            </a:r>
          </a:p>
          <a:p>
            <a:r>
              <a:rPr lang="en-US" dirty="0"/>
              <a:t>Costs include the platform, engineering, operations, accuracy, and governance — not just Kafka.</a:t>
            </a:r>
          </a:p>
          <a:p>
            <a:endParaRPr lang="en-US" dirty="0"/>
          </a:p>
          <a:p>
            <a:r>
              <a:rPr lang="en-US" dirty="0"/>
              <a:t>Benefits can come from event reuse, responsiveness, decoupling, and replay. They must be tied to measurable outcomes and compared against a simpler option.</a:t>
            </a:r>
          </a:p>
          <a:p>
            <a:endParaRPr lang="en-US" dirty="0"/>
          </a:p>
          <a:p>
            <a:r>
              <a:rPr lang="en-US" dirty="0"/>
              <a:t>The ADR records the need, the guarantees, the assumptions, the responsibilities, and the criteria for re-evaluation.</a:t>
            </a:r>
          </a:p>
          <a:p>
            <a:r>
              <a:rPr lang="en-US" dirty="0"/>
              <a:t>Do not invent an ROI percentage or financial gains.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summarizes the limitations the documentation explicitly acknowledges.</a:t>
            </a:r>
          </a:p>
          <a:p>
            <a:r>
              <a:rPr lang="en-US" dirty="0"/>
              <a:t>The engines and the database are embedded for learning purposes. Configuration values and in-JVM shortcuts are not production contracts.</a:t>
            </a:r>
          </a:p>
          <a:p>
            <a:endParaRPr lang="en-US" dirty="0"/>
          </a:p>
          <a:p>
            <a:r>
              <a:rPr lang="en-US" dirty="0"/>
              <a:t>The Outbox, the catalog, state sharing, security hardening, and elasticity all require design and validation specific to the target environment.</a:t>
            </a:r>
          </a:p>
          <a:p>
            <a:endParaRPr lang="en-US" dirty="0"/>
          </a:p>
          <a:p>
            <a:r>
              <a:rPr lang="en-US" dirty="0"/>
              <a:t>Do not turn this list into an audit report: the findings and fixes from the earlier code review are not the subject of this deck. The goal is for students to be able to distinguish a reproducible experiment from a complete operational architecture.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An educational proposal built from the documentation's experiments, not a test procedure already carried out.</a:t>
            </a:r>
          </a:p>
          <a:p>
            <a:endParaRPr lang="en-US" dirty="0"/>
          </a:p>
          <a:p>
            <a:pPr marL="228600" indent="-228600">
              <a:buAutoNum type="arabicPeriod"/>
            </a:pPr>
            <a:r>
              <a:rPr lang="en-US" dirty="0"/>
              <a:t>Compare with and without the key on the same dataset: observe ordering and quantities, then explain the race.</a:t>
            </a:r>
          </a:p>
          <a:p>
            <a:pPr marL="228600" indent="-228600">
              <a:buAutoNum type="arabicPeriod"/>
            </a:pPr>
            <a:r>
              <a:rPr lang="en-US" dirty="0"/>
              <a:t>Test an authorized replay and observe the statuses and the journal: identify what must not be applied twice.</a:t>
            </a:r>
          </a:p>
          <a:p>
            <a:pPr marL="228600" indent="-228600">
              <a:buAutoNum type="arabicPeriod"/>
            </a:pPr>
            <a:r>
              <a:rPr lang="en-US" dirty="0"/>
              <a:t>Compare the direct pause with the Flink pause: distinguish group membership from a savepoint.</a:t>
            </a:r>
          </a:p>
          <a:p>
            <a:pPr marL="228600" indent="-228600">
              <a:buAutoNum type="arabicPeriod"/>
            </a:pPr>
            <a:r>
              <a:rPr lang="en-US" dirty="0"/>
              <a:t>Examine the processed requests and the inventory: show why transport alone does not prove correctness.</a:t>
            </a:r>
          </a:p>
          <a:p>
            <a:pPr marL="228600" indent="-228600">
              <a:buAutoNum type="arabicPeriod"/>
            </a:pPr>
            <a:endParaRPr lang="en-US" dirty="0"/>
          </a:p>
          <a:p>
            <a:pPr marL="0" indent="0">
              <a:buNone/>
            </a:pPr>
            <a:r>
              <a:rPr lang="en-US" dirty="0"/>
              <a:t>Prepare the corrected version and the scenarios before the session; do not trigger a reset while a batch is still active.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Revisit the six takeaways without adding any new guarantee.</a:t>
            </a:r>
          </a:p>
          <a:p>
            <a:r>
              <a:rPr lang="en-US" dirty="0"/>
              <a:t>The key expresses business ordering.</a:t>
            </a:r>
          </a:p>
          <a:p>
            <a:r>
              <a:rPr lang="en-US" dirty="0"/>
              <a:t>The transactional boundary defines what is atomic.</a:t>
            </a:r>
          </a:p>
          <a:p>
            <a:r>
              <a:rPr lang="en-US" dirty="0"/>
              <a:t>Idempotence makes it possible to tolerate redelivery.</a:t>
            </a:r>
          </a:p>
          <a:p>
            <a:r>
              <a:rPr lang="en-US" dirty="0"/>
              <a:t>The runtime and the partitions bound parallelism and recovery.</a:t>
            </a:r>
          </a:p>
          <a:p>
            <a:r>
              <a:rPr lang="en-US" dirty="0"/>
              <a:t>Observability and corroboration distinguish functioning from correctness.</a:t>
            </a:r>
          </a:p>
          <a:p>
            <a:endParaRPr lang="en-US" dirty="0"/>
          </a:p>
          <a:p>
            <a:r>
              <a:rPr lang="en-US" dirty="0"/>
              <a:t>Finally, governance and TCO/ROI bring the technology choice back to the actual need.</a:t>
            </a:r>
          </a:p>
          <a:p>
            <a:endParaRPr lang="en-US" dirty="0"/>
          </a:p>
          <a:p>
            <a:r>
              <a:rPr lang="en-US" dirty="0"/>
              <a:t>Closing question: for a new integration, what evidence would you ask for before calling its processing reliable?</a:t>
            </a:r>
          </a:p>
          <a:p>
            <a:r>
              <a:rPr lang="en-US" dirty="0"/>
              <a:t>The appendices provide reference points for further reading and for preparing technical discussions.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appendix relies on the JRN_EVENT schema, not on a new interpretation of the replay headers.</a:t>
            </a:r>
          </a:p>
          <a:p>
            <a:r>
              <a:rPr lang="en-US" dirty="0"/>
              <a:t>CONSUMER_ID and EVENT_ID form the business key (UNIQUE constraint), used for lookups.</a:t>
            </a:r>
          </a:p>
          <a:p>
            <a:r>
              <a:rPr lang="en-US" dirty="0"/>
              <a:t>JRN_EVENT_ID is the technical primary key (identity), distinct from that business key.</a:t>
            </a:r>
          </a:p>
          <a:p>
            <a:r>
              <a:rPr lang="en-US" dirty="0"/>
              <a:t>BATCH_ID correlates a publication.</a:t>
            </a:r>
          </a:p>
          <a:p>
            <a:r>
              <a:rPr lang="en-US" dirty="0"/>
              <a:t>EVENT_TYPE indicates a first delivery or a replay.</a:t>
            </a:r>
          </a:p>
          <a:p>
            <a:r>
              <a:rPr lang="en-US" dirty="0"/>
              <a:t>RESULT indicates the outcome.</a:t>
            </a:r>
          </a:p>
          <a:p>
            <a:r>
              <a:rPr lang="en-US" dirty="0"/>
              <a:t>PAYLOAD_HASH and the dates enrich traceability.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3097925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9" Type="http://schemas.openxmlformats.org/officeDocument/2006/relationships/tags" Target="../tags/tag1198.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tags" Target="../tags/tag1197.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41" Type="http://schemas.openxmlformats.org/officeDocument/2006/relationships/notesSlide" Target="../notesSlides/notesSlide41.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tags" Target="../tags/tag1196.xml"/><Relationship Id="rId40"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6.xml"/><Relationship Id="rId13" Type="http://schemas.openxmlformats.org/officeDocument/2006/relationships/tags" Target="../tags/tag1211.xml"/><Relationship Id="rId18" Type="http://schemas.openxmlformats.org/officeDocument/2006/relationships/tags" Target="../tags/tag1216.xml"/><Relationship Id="rId26" Type="http://schemas.openxmlformats.org/officeDocument/2006/relationships/tags" Target="../tags/tag1224.xml"/><Relationship Id="rId3" Type="http://schemas.openxmlformats.org/officeDocument/2006/relationships/tags" Target="../tags/tag1201.xml"/><Relationship Id="rId21" Type="http://schemas.openxmlformats.org/officeDocument/2006/relationships/tags" Target="../tags/tag1219.xml"/><Relationship Id="rId34" Type="http://schemas.openxmlformats.org/officeDocument/2006/relationships/tags" Target="../tags/tag1232.xml"/><Relationship Id="rId7" Type="http://schemas.openxmlformats.org/officeDocument/2006/relationships/tags" Target="../tags/tag1205.xml"/><Relationship Id="rId12" Type="http://schemas.openxmlformats.org/officeDocument/2006/relationships/tags" Target="../tags/tag1210.xml"/><Relationship Id="rId17" Type="http://schemas.openxmlformats.org/officeDocument/2006/relationships/tags" Target="../tags/tag1215.xml"/><Relationship Id="rId25" Type="http://schemas.openxmlformats.org/officeDocument/2006/relationships/tags" Target="../tags/tag1223.xml"/><Relationship Id="rId33" Type="http://schemas.openxmlformats.org/officeDocument/2006/relationships/tags" Target="../tags/tag1231.xml"/><Relationship Id="rId2" Type="http://schemas.openxmlformats.org/officeDocument/2006/relationships/tags" Target="../tags/tag1200.xml"/><Relationship Id="rId16" Type="http://schemas.openxmlformats.org/officeDocument/2006/relationships/tags" Target="../tags/tag1214.xml"/><Relationship Id="rId20" Type="http://schemas.openxmlformats.org/officeDocument/2006/relationships/tags" Target="../tags/tag1218.xml"/><Relationship Id="rId29" Type="http://schemas.openxmlformats.org/officeDocument/2006/relationships/tags" Target="../tags/tag1227.xml"/><Relationship Id="rId1" Type="http://schemas.openxmlformats.org/officeDocument/2006/relationships/tags" Target="../tags/tag1199.xml"/><Relationship Id="rId6" Type="http://schemas.openxmlformats.org/officeDocument/2006/relationships/tags" Target="../tags/tag1204.xml"/><Relationship Id="rId11" Type="http://schemas.openxmlformats.org/officeDocument/2006/relationships/tags" Target="../tags/tag1209.xml"/><Relationship Id="rId24" Type="http://schemas.openxmlformats.org/officeDocument/2006/relationships/tags" Target="../tags/tag1222.xml"/><Relationship Id="rId32" Type="http://schemas.openxmlformats.org/officeDocument/2006/relationships/tags" Target="../tags/tag1230.xml"/><Relationship Id="rId37" Type="http://schemas.openxmlformats.org/officeDocument/2006/relationships/notesSlide" Target="../notesSlides/notesSlide42.xml"/><Relationship Id="rId5" Type="http://schemas.openxmlformats.org/officeDocument/2006/relationships/tags" Target="../tags/tag1203.xml"/><Relationship Id="rId15" Type="http://schemas.openxmlformats.org/officeDocument/2006/relationships/tags" Target="../tags/tag1213.xml"/><Relationship Id="rId23" Type="http://schemas.openxmlformats.org/officeDocument/2006/relationships/tags" Target="../tags/tag1221.xml"/><Relationship Id="rId28" Type="http://schemas.openxmlformats.org/officeDocument/2006/relationships/tags" Target="../tags/tag1226.xml"/><Relationship Id="rId36" Type="http://schemas.openxmlformats.org/officeDocument/2006/relationships/slideLayout" Target="../slideLayouts/slideLayout1.xml"/><Relationship Id="rId10" Type="http://schemas.openxmlformats.org/officeDocument/2006/relationships/tags" Target="../tags/tag1208.xml"/><Relationship Id="rId19" Type="http://schemas.openxmlformats.org/officeDocument/2006/relationships/tags" Target="../tags/tag1217.xml"/><Relationship Id="rId31" Type="http://schemas.openxmlformats.org/officeDocument/2006/relationships/tags" Target="../tags/tag1229.xml"/><Relationship Id="rId4" Type="http://schemas.openxmlformats.org/officeDocument/2006/relationships/tags" Target="../tags/tag1202.xml"/><Relationship Id="rId9" Type="http://schemas.openxmlformats.org/officeDocument/2006/relationships/tags" Target="../tags/tag1207.xml"/><Relationship Id="rId14" Type="http://schemas.openxmlformats.org/officeDocument/2006/relationships/tags" Target="../tags/tag1212.xml"/><Relationship Id="rId22" Type="http://schemas.openxmlformats.org/officeDocument/2006/relationships/tags" Target="../tags/tag1220.xml"/><Relationship Id="rId27" Type="http://schemas.openxmlformats.org/officeDocument/2006/relationships/tags" Target="../tags/tag1225.xml"/><Relationship Id="rId30" Type="http://schemas.openxmlformats.org/officeDocument/2006/relationships/tags" Target="../tags/tag1228.xml"/><Relationship Id="rId35" Type="http://schemas.openxmlformats.org/officeDocument/2006/relationships/tags" Target="../tags/tag1233.xml"/></Relationships>
</file>

<file path=ppt/slides/_rels/slide43.xml.rels><?xml version="1.0" encoding="UTF-8" standalone="yes"?>
<Relationships xmlns="http://schemas.openxmlformats.org/package/2006/relationships"><Relationship Id="rId8" Type="http://schemas.openxmlformats.org/officeDocument/2006/relationships/tags" Target="../tags/tag1241.xml"/><Relationship Id="rId3" Type="http://schemas.openxmlformats.org/officeDocument/2006/relationships/tags" Target="../tags/tag1236.xml"/><Relationship Id="rId7" Type="http://schemas.openxmlformats.org/officeDocument/2006/relationships/tags" Target="../tags/tag1240.xml"/><Relationship Id="rId2" Type="http://schemas.openxmlformats.org/officeDocument/2006/relationships/tags" Target="../tags/tag1235.xml"/><Relationship Id="rId1" Type="http://schemas.openxmlformats.org/officeDocument/2006/relationships/tags" Target="../tags/tag1234.xml"/><Relationship Id="rId6" Type="http://schemas.openxmlformats.org/officeDocument/2006/relationships/tags" Target="../tags/tag1239.xml"/><Relationship Id="rId11" Type="http://schemas.openxmlformats.org/officeDocument/2006/relationships/image" Target="../media/image15.png"/><Relationship Id="rId5" Type="http://schemas.openxmlformats.org/officeDocument/2006/relationships/tags" Target="../tags/tag1238.xml"/><Relationship Id="rId10" Type="http://schemas.openxmlformats.org/officeDocument/2006/relationships/notesSlide" Target="../notesSlides/notesSlide43.xml"/><Relationship Id="rId4" Type="http://schemas.openxmlformats.org/officeDocument/2006/relationships/tags" Target="../tags/tag1237.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9.xml"/><Relationship Id="rId13" Type="http://schemas.openxmlformats.org/officeDocument/2006/relationships/tags" Target="../tags/tag1254.xml"/><Relationship Id="rId18" Type="http://schemas.openxmlformats.org/officeDocument/2006/relationships/tags" Target="../tags/tag1259.xml"/><Relationship Id="rId26" Type="http://schemas.openxmlformats.org/officeDocument/2006/relationships/tags" Target="../tags/tag1267.xml"/><Relationship Id="rId39" Type="http://schemas.openxmlformats.org/officeDocument/2006/relationships/tags" Target="../tags/tag1280.xml"/><Relationship Id="rId3" Type="http://schemas.openxmlformats.org/officeDocument/2006/relationships/tags" Target="../tags/tag1244.xml"/><Relationship Id="rId21" Type="http://schemas.openxmlformats.org/officeDocument/2006/relationships/tags" Target="../tags/tag1262.xml"/><Relationship Id="rId34" Type="http://schemas.openxmlformats.org/officeDocument/2006/relationships/tags" Target="../tags/tag1275.xml"/><Relationship Id="rId7" Type="http://schemas.openxmlformats.org/officeDocument/2006/relationships/tags" Target="../tags/tag1248.xml"/><Relationship Id="rId12" Type="http://schemas.openxmlformats.org/officeDocument/2006/relationships/tags" Target="../tags/tag1253.xml"/><Relationship Id="rId17" Type="http://schemas.openxmlformats.org/officeDocument/2006/relationships/tags" Target="../tags/tag1258.xml"/><Relationship Id="rId25" Type="http://schemas.openxmlformats.org/officeDocument/2006/relationships/tags" Target="../tags/tag1266.xml"/><Relationship Id="rId33" Type="http://schemas.openxmlformats.org/officeDocument/2006/relationships/tags" Target="../tags/tag1274.xml"/><Relationship Id="rId38" Type="http://schemas.openxmlformats.org/officeDocument/2006/relationships/tags" Target="../tags/tag1279.xml"/><Relationship Id="rId2" Type="http://schemas.openxmlformats.org/officeDocument/2006/relationships/tags" Target="../tags/tag1243.xml"/><Relationship Id="rId16" Type="http://schemas.openxmlformats.org/officeDocument/2006/relationships/tags" Target="../tags/tag1257.xml"/><Relationship Id="rId20" Type="http://schemas.openxmlformats.org/officeDocument/2006/relationships/tags" Target="../tags/tag1261.xml"/><Relationship Id="rId29" Type="http://schemas.openxmlformats.org/officeDocument/2006/relationships/tags" Target="../tags/tag1270.xml"/><Relationship Id="rId41" Type="http://schemas.openxmlformats.org/officeDocument/2006/relationships/notesSlide" Target="../notesSlides/notesSlide44.xml"/><Relationship Id="rId1" Type="http://schemas.openxmlformats.org/officeDocument/2006/relationships/tags" Target="../tags/tag1242.xml"/><Relationship Id="rId6" Type="http://schemas.openxmlformats.org/officeDocument/2006/relationships/tags" Target="../tags/tag1247.xml"/><Relationship Id="rId11" Type="http://schemas.openxmlformats.org/officeDocument/2006/relationships/tags" Target="../tags/tag1252.xml"/><Relationship Id="rId24" Type="http://schemas.openxmlformats.org/officeDocument/2006/relationships/tags" Target="../tags/tag1265.xml"/><Relationship Id="rId32" Type="http://schemas.openxmlformats.org/officeDocument/2006/relationships/tags" Target="../tags/tag1273.xml"/><Relationship Id="rId37" Type="http://schemas.openxmlformats.org/officeDocument/2006/relationships/tags" Target="../tags/tag1278.xml"/><Relationship Id="rId40" Type="http://schemas.openxmlformats.org/officeDocument/2006/relationships/slideLayout" Target="../slideLayouts/slideLayout1.xml"/><Relationship Id="rId5" Type="http://schemas.openxmlformats.org/officeDocument/2006/relationships/tags" Target="../tags/tag1246.xml"/><Relationship Id="rId15" Type="http://schemas.openxmlformats.org/officeDocument/2006/relationships/tags" Target="../tags/tag1256.xml"/><Relationship Id="rId23" Type="http://schemas.openxmlformats.org/officeDocument/2006/relationships/tags" Target="../tags/tag1264.xml"/><Relationship Id="rId28" Type="http://schemas.openxmlformats.org/officeDocument/2006/relationships/tags" Target="../tags/tag1269.xml"/><Relationship Id="rId36" Type="http://schemas.openxmlformats.org/officeDocument/2006/relationships/tags" Target="../tags/tag1277.xml"/><Relationship Id="rId10" Type="http://schemas.openxmlformats.org/officeDocument/2006/relationships/tags" Target="../tags/tag1251.xml"/><Relationship Id="rId19" Type="http://schemas.openxmlformats.org/officeDocument/2006/relationships/tags" Target="../tags/tag1260.xml"/><Relationship Id="rId31" Type="http://schemas.openxmlformats.org/officeDocument/2006/relationships/tags" Target="../tags/tag1272.xml"/><Relationship Id="rId4" Type="http://schemas.openxmlformats.org/officeDocument/2006/relationships/tags" Target="../tags/tag1245.xml"/><Relationship Id="rId9" Type="http://schemas.openxmlformats.org/officeDocument/2006/relationships/tags" Target="../tags/tag1250.xml"/><Relationship Id="rId14" Type="http://schemas.openxmlformats.org/officeDocument/2006/relationships/tags" Target="../tags/tag1255.xml"/><Relationship Id="rId22" Type="http://schemas.openxmlformats.org/officeDocument/2006/relationships/tags" Target="../tags/tag1263.xml"/><Relationship Id="rId27" Type="http://schemas.openxmlformats.org/officeDocument/2006/relationships/tags" Target="../tags/tag1268.xml"/><Relationship Id="rId30" Type="http://schemas.openxmlformats.org/officeDocument/2006/relationships/tags" Target="../tags/tag1271.xml"/><Relationship Id="rId35" Type="http://schemas.openxmlformats.org/officeDocument/2006/relationships/tags" Target="../tags/tag12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Stream Processing and EDA Resilience</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Kafka Engineering Guide</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From the first published message</a:t>
            </a:r>
          </a:p>
          <a:p>
            <a:pPr marL="0" indent="0">
              <a:buNone/>
            </a:pPr>
            <a:r>
              <a:rPr lang="fr-CA" sz="2900" noProof="0" dirty="0">
                <a:solidFill>
                  <a:srgbClr val="FFFFFF"/>
                </a:solidFill>
                <a:latin typeface="Calibri" pitchFamily="34" charset="0"/>
                <a:ea typeface="Calibri" pitchFamily="34" charset="-122"/>
                <a:cs typeface="Calibri" pitchFamily="34" charset="-120"/>
              </a:rPr>
              <a:t>to EDA resilience</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A learning Sandbox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Learning path in English  |  October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ENGINEERING GUIDE</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This guide presents a concrete project (with a Sandbox-style implementation) that integrates best practices.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EDA architecture best practices</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More than 40 journey slides + a few orientation and deep-dive appendices.</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Underestimation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Delivery teams generally underestimate the complexity of integrating with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Distributed Kafka</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The distributed nature of the Kafka architecture must be taken into account.</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External partners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Our partners have very little expertise in this area — this is simply a fact.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Sandbox-style project</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 concrete project that demonstrates an EDA architecture implementation.</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and concept walkthrough with implementation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We will present best practices for implementing a resilient architecture with concrete examples — through the learning Sandbox.</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LEARNING PATH</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FROM CONCRETE WORK TO GUARANTEES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steps for knowledge transfer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One common thread: publish a request, produce a business effect, then control/corroborate that effect.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Discover the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data, and the journey of a request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Understand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keys, and business ordering.</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Make effects reliable</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Delivery, transactions, idempotence, DLT, and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and runtime boundaries.</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Operate and distribute</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Parallelism, shutdown, probes, and elasticity.</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Prove and choose</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Observability, governance, corroboration, and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GITHUB Project: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GUIDE FRAMING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Publishing a message is not enough to build an EDA platform</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event-driven architecture. Transport makes exchange possible; by itself, it does not guarantee the reliability of the effects.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Publish, store, and consume normalized messages.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Accuracy</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Order, deduplicate, and validate effects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Trust</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govern, control, and corroborate the data.</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Our sharks: Bronze, silver, and gold — our medallion architecture specialists.</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 THE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standalone application for observing effects/trade-offs/decisions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static Nuxt frontend and the Spring Boot backend are packaged in a single deployable artifact.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Browser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Nuxt interface</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Autofit/>
          </a:bodyPr>
          <a:lstStyle/>
          <a:p>
            <a:pPr marL="0" indent="0">
              <a:buNone/>
            </a:pPr>
            <a:r>
              <a:rPr lang="fr-CA" sz="2000" b="1" kern="0" spc="50" noProof="0" dirty="0">
                <a:solidFill>
                  <a:srgbClr val="1F6FEB"/>
                </a:solidFill>
                <a:latin typeface="Calibri" pitchFamily="34" charset="0"/>
                <a:ea typeface="Calibri" pitchFamily="34" charset="-122"/>
                <a:cs typeface="Calibri" pitchFamily="34" charset="-120"/>
              </a:rPr>
              <a:t>  STANDALONE APPLICATION ARTIFACT</a:t>
            </a:r>
            <a:endParaRPr lang="fr-CA" sz="20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BFF API and static resources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and business logic</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Educational Sandbox: an execution convenience, not a production topology.</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BUSINESS THREAD</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A request connects a person, a product, and an inventory</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Processing must evolve the balance, inventory, and request result coherently.</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buyer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their balance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Operations</a:t>
            </a:r>
          </a:p>
          <a:p>
            <a:pPr marL="0" indent="0" algn="ctr">
              <a:buNone/>
            </a:pPr>
            <a:r>
              <a:rPr lang="fr-CA" sz="1620" noProof="0" dirty="0">
                <a:solidFill>
                  <a:srgbClr val="486581"/>
                </a:solidFill>
                <a:latin typeface="Calibri" pitchFamily="34" charset="0"/>
                <a:ea typeface="Calibri" pitchFamily="34" charset="-122"/>
                <a:cs typeface="Calibri" pitchFamily="34" charset="-120"/>
              </a:rPr>
              <a:t>to perform</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product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its unit price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p>
          <a:p>
            <a:pPr marL="0" indent="0" algn="ctr">
              <a:buNone/>
            </a:pPr>
            <a:r>
              <a:rPr lang="fr-CA" sz="1620" noProof="0" dirty="0">
                <a:solidFill>
                  <a:srgbClr val="486581"/>
                </a:solidFill>
                <a:latin typeface="Calibri" pitchFamily="34" charset="0"/>
                <a:ea typeface="Calibri" pitchFamily="34" charset="-122"/>
                <a:cs typeface="Calibri" pitchFamily="34" charset="-120"/>
              </a:rPr>
              <a:t>inventory</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Journey invariant: inventory must never become negative. The operations screen is the experimentation station.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Event</a:t>
            </a:r>
          </a:p>
          <a:p>
            <a:pPr marL="0" indent="0" algn="ctr">
              <a:buNone/>
            </a:pPr>
            <a:r>
              <a:rPr lang="fr-CA" sz="1620" noProof="0" dirty="0">
                <a:solidFill>
                  <a:srgbClr val="486581"/>
                </a:solidFill>
                <a:latin typeface="Calibri" pitchFamily="34" charset="0"/>
                <a:ea typeface="Calibri" pitchFamily="34" charset="-122"/>
                <a:cs typeface="Calibri" pitchFamily="34" charset="-120"/>
              </a:rPr>
              <a:t>consumption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Key + Latency</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Make the effect of parallelism visible.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Replay</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Observe progress and recovery.</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Flink option</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Flink alternative for processing.</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PATH</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Follow a request (message) end to end</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Each component carries a distinct responsibility; the validation boundaries come next.</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Start</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Keep</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Receive</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and delegate</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Process</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in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Producer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Consumer</a:t>
            </a:r>
          </a:p>
          <a:p>
            <a:pPr marL="0" indent="0">
              <a:buNone/>
            </a:pPr>
            <a:r>
              <a:rPr lang="fr-CA" b="1" dirty="0">
                <a:solidFill>
                  <a:srgbClr val="0F766E"/>
                </a:solidFill>
                <a:latin typeface="Calibri" pitchFamily="34" charset="0"/>
                <a:ea typeface="Calibri" pitchFamily="34" charset="-122"/>
                <a:cs typeface="Calibri" pitchFamily="34" charset="-120"/>
              </a:rPr>
              <a:t>  Update: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received request is not immediately a validated business effect.</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Publish</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requests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Periodic</a:t>
            </a:r>
          </a:p>
          <a:p>
            <a:pPr marL="0" indent="0" algn="ctr">
              <a:buNone/>
            </a:pPr>
            <a:r>
              <a:rPr lang="fr-CA" sz="1850" b="1" dirty="0">
                <a:solidFill>
                  <a:srgbClr val="1F6FEB"/>
                </a:solidFill>
                <a:latin typeface="Calibri" pitchFamily="34" charset="0"/>
                <a:ea typeface="Calibri" pitchFamily="34" charset="-122"/>
                <a:cs typeface="Calibri" pitchFamily="34" charset="-120"/>
              </a:rPr>
              <a:t>Snapshots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(Reconciliation)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NORMALIZATION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Data normalization</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carries messages from a producer. A message has a payload and metadata. Normalization must not depend on the technology and must be understandable by all present and future consumers.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Normalization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Normalization aims to make the message accessible/understandable to consumers — durable over time.</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Metadata</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Allows the consumer to know the context and obtain the unique identifier. Alternative: payload hash … if there is a timestamp field.</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Integrity</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consumer must be able to validate message integrity BEFORE processing.</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Technology: metadata must not depend on MOM-specific features.</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Very important.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“Zero Trust” principle.</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Should be UUIDs.</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for a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DESIGN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Neither a universal topic nor uncontrolled multiplication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goal is to find a balance around aggregates, responsibilities, and contracts.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topic for heterogeneous events.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Risk: unclear contract and unnatural (or impossible) key.</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Makes message consumption exponentially more complex.</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Specialized topics by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Trade-off: inter-topic ordering and operations.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Ideal for selecting a partition key.</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By aggregate</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An explicit intent and contract.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Group events whose order is related.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May be difficult to determine a good partition key.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is an intentional contract, not just a transport pipe.</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FOUNDATIONS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Kafka topic … Partitions allocate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organizes messages; the partition provides order (when keyed); the offset marks a position; the group shares the work.</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positions local to each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CONSUMER GROUP</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Order is guaranteed only within a partition (when a partition key is used), not globally across all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Receives no messages.</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Without a key ... All threads can write to the same record — no ordering.</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HOT PARTITIONS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imbalanced key can neutralize horizontal elasticity</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Throughput can remain limited by a single partition, even when other consumers are available.</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IMBALANCE DIAGRAM</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A dominant key concentrates the work.</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Measure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lag by partition, not just the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Locate the bottleneck</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Key, lock, database, or external resource.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Distributing more is useful only if business ordering and invariants remain preserved.</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Kafka rebalance</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An inactive (underactive) pod is removed, continuously causing partition rebalances toward other pods ... Ouch!</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ORDER BY ENTITY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Kafka key must express the desired business ordering</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In the project, the “productId” key provides message ordering for the inventory invariant.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Without a key</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The same product may appear in several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Multiple threads may act on the same inventory.</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“productId” as the key</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Product requests go to the same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The direct path preserves sequential processing by product.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However, this ordering does not address synchronization of the person balance.</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Design decision: order events where the business requires it.</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CA" sz="1100" b="1" kern="0" spc="50" noProof="0" dirty="0">
                <a:solidFill>
                  <a:srgbClr val="1F6FEB"/>
                </a:solidFill>
                <a:latin typeface="Calibri" pitchFamily="34" charset="0"/>
                <a:ea typeface="Calibri" pitchFamily="34" charset="-122"/>
                <a:cs typeface="Calibri" pitchFamily="34" charset="-120"/>
              </a:rPr>
              <a:t>02 / UNDERSTAND KAFKA</a:t>
            </a:r>
            <a:endParaRPr lang="en-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CA" sz="1000" b="1" noProof="0" dirty="0">
                <a:solidFill>
                  <a:srgbClr val="829AB1"/>
                </a:solidFill>
                <a:latin typeface="Calibri" pitchFamily="34" charset="0"/>
                <a:ea typeface="Calibri" pitchFamily="34" charset="-122"/>
                <a:cs typeface="Calibri" pitchFamily="34" charset="-120"/>
              </a:rPr>
              <a:t>PROVIDED REPORTS</a:t>
            </a:r>
            <a:endParaRPr lang="en-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CA" sz="2700" b="1" noProof="0" dirty="0">
                <a:solidFill>
                  <a:srgbClr val="102A43"/>
                </a:solidFill>
                <a:latin typeface="Calibri" pitchFamily="34" charset="0"/>
                <a:ea typeface="Calibri" pitchFamily="34" charset="-122"/>
                <a:cs typeface="Calibri" pitchFamily="34" charset="-120"/>
              </a:rPr>
              <a:t>Only one option changes; the invariant can break</a:t>
            </a:r>
            <a:endParaRPr lang="en-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The two reports in the project documentation use the same initial inventory and the same requests, with or without a key.</a:t>
            </a:r>
            <a:endParaRPr lang="en-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CA" sz="900" noProof="0" dirty="0">
                <a:solidFill>
                  <a:srgbClr val="486581"/>
                </a:solidFill>
                <a:latin typeface="Calibri" pitchFamily="34" charset="0"/>
                <a:ea typeface="Calibri" pitchFamily="34" charset="-122"/>
                <a:cs typeface="Calibri" pitchFamily="34" charset="-120"/>
              </a:rPr>
              <a:t>Kafka Engineering Guide · EDA Project</a:t>
            </a:r>
            <a:endParaRPr lang="en-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CA" sz="900" noProof="0" dirty="0">
                <a:solidFill>
                  <a:srgbClr val="486581"/>
                </a:solidFill>
                <a:latin typeface="Calibri" pitchFamily="34" charset="0"/>
                <a:ea typeface="Calibri" pitchFamily="34" charset="-122"/>
                <a:cs typeface="Calibri" pitchFamily="34" charset="-120"/>
              </a:rPr>
              <a:t>13</a:t>
            </a:r>
            <a:endParaRPr lang="en-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en-CA" sz="1600" b="1" kern="0" spc="50" noProof="0" dirty="0">
                <a:solidFill>
                  <a:srgbClr val="0F766E"/>
                </a:solidFill>
                <a:latin typeface="Calibri" pitchFamily="34" charset="0"/>
                <a:ea typeface="Calibri" pitchFamily="34" charset="-122"/>
                <a:cs typeface="Calibri" pitchFamily="34" charset="-120"/>
              </a:rPr>
              <a:t>WITH KEY</a:t>
            </a:r>
            <a:endParaRPr lang="en-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en-CA" sz="1600" b="1" kern="0" spc="50" noProof="0" dirty="0">
                <a:solidFill>
                  <a:srgbClr val="B45309"/>
                </a:solidFill>
                <a:latin typeface="Calibri" pitchFamily="34" charset="0"/>
                <a:ea typeface="Calibri" pitchFamily="34" charset="-122"/>
                <a:cs typeface="Calibri" pitchFamily="34" charset="-120"/>
              </a:rPr>
              <a:t>WITHOUT KEY or key on “personId”.</a:t>
            </a:r>
            <a:endParaRPr lang="en-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0F766E"/>
                </a:solidFill>
                <a:latin typeface="Calibri" pitchFamily="34" charset="0"/>
                <a:ea typeface="Calibri" pitchFamily="34" charset="-122"/>
                <a:cs typeface="Calibri" pitchFamily="34" charset="-120"/>
              </a:rPr>
              <a:t>Banana : 0</a:t>
            </a:r>
            <a:endParaRPr lang="en-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B42318"/>
                </a:solidFill>
                <a:latin typeface="Calibri" pitchFamily="34" charset="0"/>
                <a:ea typeface="Calibri" pitchFamily="34" charset="-122"/>
                <a:cs typeface="Calibri" pitchFamily="34" charset="-120"/>
              </a:rPr>
              <a:t>Banana : -10</a:t>
            </a:r>
            <a:endParaRPr lang="en-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en-CA" sz="1600" noProof="0" dirty="0">
                <a:solidFill>
                  <a:srgbClr val="0F766E"/>
                </a:solidFill>
                <a:latin typeface="Calibri" pitchFamily="34" charset="0"/>
                <a:ea typeface="Calibri" pitchFamily="34" charset="-122"/>
                <a:cs typeface="Calibri" pitchFamily="34" charset="-120"/>
              </a:rPr>
              <a:t>Illustrated result: non-negative inventory.</a:t>
            </a:r>
            <a:endParaRPr lang="en-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en-CA" sz="1600" noProof="0" dirty="0">
                <a:solidFill>
                  <a:srgbClr val="B42318"/>
                </a:solidFill>
                <a:latin typeface="Calibri" pitchFamily="34" charset="0"/>
                <a:ea typeface="Calibri" pitchFamily="34" charset="-122"/>
                <a:cs typeface="Calibri" pitchFamily="34" charset="-120"/>
              </a:rPr>
              <a:t>Illustrated result: silent overselling.</a:t>
            </a:r>
            <a:endParaRPr lang="en-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CA" sz="1550" b="1" noProof="0" dirty="0">
                <a:solidFill>
                  <a:srgbClr val="102A43"/>
                </a:solidFill>
                <a:latin typeface="Calibri" pitchFamily="34" charset="0"/>
                <a:ea typeface="Calibri" pitchFamily="34" charset="-122"/>
                <a:cs typeface="Calibri" pitchFamily="34" charset="-120"/>
              </a:rPr>
              <a:t>Documentation excerpts: the comparison must focus on business effects, not only on data flow.</a:t>
            </a:r>
            <a:endParaRPr lang="en-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Protect the person and the product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Hazelcast lock is indexed on PERSON_ID; the INVENTORY row is ordered by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A / Person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B / Person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In-memory lock — person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One row for the balance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The race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Read the person balance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Validate the balance and modify it.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Two processing flows can pass the same balance validation.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Adding “personId” to the current key will not work!</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scope of a protection must match the invariant it is intended to protect.</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Protect PERSON or INVENTORY using SQL locking</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SQL approach ... an alternative that does not preserve ordering.</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Pessimistic locking</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Lock the row on read so others wait. In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 waiting on the database. “sleep mode”.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Less elasticity and an impact on the lifecycle of a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Optimistic locking</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A @Version column; the update succeeds only if the version is unchanged, otherwise the application must retry.</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Spins in circles ... consumes $$$ resources. Fight between pods (Process/Thread)!!!</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Conditional update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Delegate the balance check to the database write (where clause).</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Business logic moves down into the SQL query — breaks the JPA cache.</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Protects only the invariants explicitly guarded, without automatically protecting the entire entity from all concurrent changes.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Breaks horizontal elasticity, generates DLT, consumes resources, and can cause repeated retries.</a:t>
            </a:r>
          </a:p>
          <a:p>
            <a:pPr marL="0" indent="0">
              <a:buNone/>
            </a:pPr>
            <a:r>
              <a:rPr lang="fr-CA" sz="1550" b="1" dirty="0">
                <a:solidFill>
                  <a:srgbClr val="B45309"/>
                </a:solidFill>
                <a:latin typeface="Calibri" pitchFamily="34" charset="0"/>
                <a:ea typeface="Calibri" pitchFamily="34" charset="-122"/>
                <a:cs typeface="Calibri" pitchFamily="34" charset="-120"/>
              </a:rPr>
              <a:t>This alternative does not preserve ordering!!!</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DELIVERY SEMANTICS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guarantees, but always a boundary to define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question is not only how many times a message arrives, but which effects become visible.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Guarantee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Principle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Trade-off</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the position before processing.</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Loss is possible and will occur!!!</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after successful work.</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Duplicates are possible. Idempotence must be implemented.</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Atomic Kafka results</a:t>
            </a:r>
          </a:p>
          <a:p>
            <a:pPr marL="0" indent="0">
              <a:buNone/>
            </a:pPr>
            <a:r>
              <a:rPr lang="fr-CA" sz="1600" dirty="0">
                <a:solidFill>
                  <a:srgbClr val="486581"/>
                </a:solidFill>
                <a:latin typeface="Calibri" pitchFamily="34" charset="0"/>
                <a:ea typeface="Calibri" pitchFamily="34" charset="-122"/>
                <a:cs typeface="Calibri" pitchFamily="34" charset="-120"/>
              </a:rPr>
              <a:t>and source offsets.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External effects are not included. Note: checkpoint!</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Sandbox project choice: at-least-once + idempotent business processing.</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At-least-once.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MAKE EFFECTS RELIABLE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KAFKA PUBLICATION AND VISIBILITY</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Three different mechanisms work together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Producer idempotence, Kafka transaction, and consumer isolation do not answer the same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Idempotent producer</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Avoid duplicates caused by producer retries.</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Kafka transaction</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Commit or abort a set of publications in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Isolated consumer</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Transactional messages: read only after commit.</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These Kafka mechanisms do not replace SQL effect atomicity or idempotence.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SQL COMMIT AND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business commit must precede the acknowledgement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failure between the two commits causes redelivery: that is exactly why idempotence is needed.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Read the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SQL Transaction</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Failure window</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The offset</a:t>
            </a:r>
          </a:p>
          <a:p>
            <a:pPr marL="0" indent="0" algn="ctr">
              <a:buNone/>
            </a:pPr>
            <a:r>
              <a:rPr lang="fr-CA" noProof="0" dirty="0">
                <a:solidFill>
                  <a:srgbClr val="486581"/>
                </a:solidFill>
                <a:latin typeface="Calibri" pitchFamily="34" charset="0"/>
                <a:ea typeface="Calibri" pitchFamily="34" charset="-122"/>
                <a:cs typeface="Calibri" pitchFamily="34" charset="-120"/>
              </a:rPr>
              <a:t>has not advanced</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Acknowledge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before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business effect may be lost.</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No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No redelivery.</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before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effect may be attempted again.</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Redelivery.</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delivery duplicate must become a non-event for the data — processing MUST BE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Recognize the event (the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same event delivered multiple times must apply the business effect only once.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ONE SQL TRANSACTION</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Verify / record the identity</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Apply, then record the outcome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85000"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balance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Deduplication marker and business effects: commit together, or roll back together.</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Verify</a:t>
            </a:r>
          </a:p>
          <a:p>
            <a:pPr marL="0" indent="0">
              <a:buNone/>
            </a:pPr>
            <a:r>
              <a:rPr lang="fr-CA" sz="1720" noProof="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single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Journal reference for the update.</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Thus ... start of the business logic.</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A uniqueness constraint remains the authority for deduplication under concurrency. It is not the commit. Keep identity, processing type, and result distinct.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RETRY / DLT / REPLAY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error must follow an explicit path</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Retry a transient incident, isolate a persistent failure, then organize a controlled replay.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Failure</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Identify the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Bounded retry</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Wait, then retry</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Failure topic</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Replay</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After analysis and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Procedure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How to perform the replay … A message in DLT is not a final state.</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A DLT must have an owner and a handling procedure (do not turn the DLT into a black hole).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a:t>
            </a:r>
          </a:p>
          <a:p>
            <a:pPr marL="0" indent="0" algn="ctr">
              <a:buNone/>
            </a:pPr>
            <a:r>
              <a:rPr lang="fr-CA" sz="1900" noProof="0" dirty="0">
                <a:solidFill>
                  <a:srgbClr val="102A43"/>
                </a:solidFill>
                <a:latin typeface="Calibri" pitchFamily="34" charset="0"/>
                <a:ea typeface="Calibri" pitchFamily="34" charset="-122"/>
                <a:cs typeface="Calibri" pitchFamily="34" charset="-120"/>
              </a:rPr>
              <a:t>Event identity, topic, partition, offset, and failure cause.</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TWO SANDBOX PATHS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changes the transport, not the business intent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Flink button selects the publication topic; both paths converge to the same processing.</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Direct Kafka</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Flink path</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same SQL effect, but different progress and recovery boundaries.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Business</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AND EXTERNAL EFFECT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Flink checkpoint is not a SQL commit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last completed checkpoint sets the Flink recovery point, not the state already committed in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DIRECT PATH</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FLINK PATH</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Recover from the last completed checkpoint</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idempotence must also be considered for counters and side effects (see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EXPLICIT GUIDE LIMITS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in-JVM bridge is not a distributed integration</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 remote TaskManager shares neither Spring beans, nor JPA repositories, nor the application’s static state.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Local Sandbox</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and Spring share one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bridge resolves the service at runtime.</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value-only path drops keys and headers.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Distributed architecture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Separate the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Share Java rules, not active beans.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Choose a connector or a remote contract.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Choose the deployment model before choosing the integration mode.</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number of partitions sets the limits of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Adding pods only adds parallelism if there are still partitions to assign to them.</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Useful parallelism = min(partitions, pods × threads per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Example: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Requested threads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Maximum active threads</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inactive threads)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Excess threads create neither partitions nor useful capacity.</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Latency and Lag … The EDA pain point</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Two complementary measures: lag indicates backlog volume; latency indicates the real time impact.</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EDA LATENCY AND LAG</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Key takeaway: Lag = backlog in messages/offsets. Latency = delay in processing time. Correlated, but not equivalent.</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Latest available offset − Latest ACKed offset</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E2E latency = time between production and completed processing</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PRODUCER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CONSUMER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PROCESSING</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REBALANCING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Changing consumers changes partition ownership</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Elasticity, restart, and failure are part of a group’s normal operation.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Triggers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pod arrives.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pod stops.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consumer exceeds a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Effects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Partition reassignment.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Possible interruption and recovery from the committed position.</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Idempotent processing.</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batches and timeouts.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Stabilized elasticity.</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group strategy.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An elastic system must know how to change owners without corrupting state.</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Partition reassignment</a:t>
            </a:r>
          </a:p>
          <a:p>
            <a:pPr algn="ctr"/>
            <a:r>
              <a:rPr lang="fr-CA" sz="1900" noProof="0" dirty="0">
                <a:solidFill>
                  <a:srgbClr val="102A43"/>
                </a:solidFill>
                <a:latin typeface="Calibri" pitchFamily="34" charset="0"/>
                <a:ea typeface="Calibri" pitchFamily="34" charset="-122"/>
                <a:cs typeface="Calibri" pitchFamily="34" charset="-120"/>
              </a:rPr>
              <a:t>Reassignment will route reprocessing (duplicates).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EKS/EDA horizontal elasticity</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Horizontal elasticity for EDA consumers depends on knowing the LAG.</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External services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manages machine instances; KEDA manages lag and consumption.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ELASTICITY ON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OPERATE AND DISTRIBUTE</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Horizontal elasticity</a:t>
            </a:r>
          </a:p>
          <a:p>
            <a:pPr algn="ctr"/>
            <a:r>
              <a:rPr lang="fr-CA" sz="1900" dirty="0">
                <a:solidFill>
                  <a:srgbClr val="102A43"/>
                </a:solidFill>
                <a:latin typeface="Calibri" pitchFamily="34" charset="0"/>
                <a:ea typeface="Calibri" pitchFamily="34" charset="-122"/>
                <a:cs typeface="Calibri" pitchFamily="34" charset="-120"/>
              </a:rPr>
              <a:t>CPU/memory HPA fails: high lag without high CPU, partition ceiling ignored, no scale-to-zero.</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KAFKA LISTENER CONTROL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Pausing is not stopping the consumer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To temporarily suspend work without leaving the group, the sandbox uses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Consumption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Group membership</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 consumption.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consumer remains a member.</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Resume consumption.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same instance continues.</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Stop the container.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Exiting triggers a rebalance (possible reprocessing).</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lightweight container pause. Flink/Sandbox: stop with savepoint (checkpoint). A rebalance triggers reprocessing!!!</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A console to control operations is not optional!!!</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Start the container.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Entering triggers a rebalance (possible reprocessing).</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GRACEFUL SHUTDOWN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Shutdown is part of system adjustments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grace period must allow in-flight work to finish and resources to close in the right order.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Remove traffic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clean shutdown reduces reprocessing; idempotence makes reprocessing possible.</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 shutdown</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Finish</a:t>
            </a:r>
          </a:p>
          <a:p>
            <a:pPr marL="0" indent="0" algn="ctr">
              <a:buNone/>
            </a:pPr>
            <a:r>
              <a:rPr lang="fr-CA" sz="2000" b="1" dirty="0">
                <a:solidFill>
                  <a:srgbClr val="102A43"/>
                </a:solidFill>
                <a:latin typeface="Calibri" pitchFamily="34" charset="0"/>
                <a:ea typeface="Calibri" pitchFamily="34" charset="-122"/>
                <a:cs typeface="Calibri" pitchFamily="34" charset="-120"/>
              </a:rPr>
              <a:t>in-flight work</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Close</a:t>
            </a:r>
          </a:p>
          <a:p>
            <a:pPr marL="0" indent="0" algn="ctr">
              <a:buNone/>
            </a:pPr>
            <a:r>
              <a:rPr lang="fr-CA" sz="2000" b="1" noProof="0" dirty="0">
                <a:solidFill>
                  <a:srgbClr val="102A43"/>
                </a:solidFill>
                <a:latin typeface="Calibri" pitchFamily="34" charset="0"/>
                <a:ea typeface="Calibri" pitchFamily="34" charset="-122"/>
                <a:cs typeface="Calibri" pitchFamily="34" charset="-120"/>
              </a:rPr>
              <a:t>resources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fontScale="70000" lnSpcReduction="20000"/>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Before the grace period ends</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fontScale="92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Shutdown in progress.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 graceful shutdown is</a:t>
            </a:r>
          </a:p>
          <a:p>
            <a:pPr algn="ctr"/>
            <a:r>
              <a:rPr lang="fr-CA" sz="1900" dirty="0">
                <a:solidFill>
                  <a:srgbClr val="C00000"/>
                </a:solidFill>
                <a:latin typeface="Calibri" pitchFamily="34" charset="0"/>
                <a:ea typeface="Calibri" pitchFamily="34" charset="-122"/>
                <a:cs typeface="Calibri" pitchFamily="34" charset="-120"/>
              </a:rPr>
              <a:t>a critical requirement, not an optional optimization.</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PROBES AND AVAILABILITY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probes answer three different questions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service access failure and an unrecoverable process do not call for the same reaction.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Has startup completed?</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Do not judge a JVM too early during initialization.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Is the process healthy?</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can cause it to restart.</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fontScale="925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Can it receive traffic?</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removes the pod from the service endpoints.</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Health: a quick decision. Metrics: a measure of behavior over time.</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File: 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a:t>
            </a:r>
          </a:p>
          <a:p>
            <a:pPr algn="ctr"/>
            <a:r>
              <a:rPr lang="fr-CA" sz="1900" dirty="0">
                <a:solidFill>
                  <a:srgbClr val="C00000"/>
                </a:solidFill>
                <a:latin typeface="Calibri" pitchFamily="34" charset="0"/>
                <a:ea typeface="Calibri" pitchFamily="34" charset="-122"/>
                <a:cs typeface="Calibri" pitchFamily="34" charset="-120"/>
              </a:rPr>
              <a:t>Internal state management is a critical requirement.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GOVERNANCE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contract turns a topic into an understandable interface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Governance makes the meaning of the data, responsibilities, and usage conditions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meaning</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Definition and event examples.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Ownership</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Responsible team and support.</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Schema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and compatibility rules.</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Dependencies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Producers, consumers, and lineage.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Freshness, availability, and quality.</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lnSpcReduction="10000"/>
          </a:bodyPr>
          <a:lstStyle/>
          <a:p>
            <a:pPr marL="0" indent="0">
              <a:buNone/>
            </a:pPr>
            <a:r>
              <a:rPr lang="fr-CA" noProof="0" dirty="0">
                <a:solidFill>
                  <a:srgbClr val="486581"/>
                </a:solidFill>
                <a:latin typeface="Calibri" pitchFamily="34" charset="0"/>
                <a:ea typeface="Calibri" pitchFamily="34" charset="-122"/>
                <a:cs typeface="Calibri" pitchFamily="34" charset="-120"/>
              </a:rPr>
              <a:t>Access, classification, and retention.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without a contract or owner creates a dependency that is difficult to operate.</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Ownership and platform are complementary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guide does not present Data Mesh and Data Fabric as two competing products.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Mesh: who and why?</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Domain ownership.</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Data as a product.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Self-service platform.</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Federated governance.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Fabric: how to connect?</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Integration and connectors.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 and lineage.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Policies and quality.</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Shared access and observability.</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can support these approaches; it replaces neither ownership nor governance.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CORROBORATION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consumed message does not prove that the state is correct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Corroboration compares representations of the same facts and looks for discrepancies.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Quantities, operations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and results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Cumulative effect</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of processing</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Inventory and balances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to compare</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Concrete control: do executed requests reconcile</a:t>
            </a:r>
          </a:p>
          <a:p>
            <a:pPr marL="0" indent="0" algn="ctr">
              <a:buNone/>
            </a:pPr>
            <a:r>
              <a:rPr lang="fr-CA" sz="2100" b="1" noProof="0" dirty="0">
                <a:solidFill>
                  <a:srgbClr val="102A43"/>
                </a:solidFill>
                <a:latin typeface="Calibri" pitchFamily="34" charset="0"/>
                <a:ea typeface="Calibri" pitchFamily="34" charset="-122"/>
                <a:cs typeface="Calibri" pitchFamily="34" charset="-120"/>
              </a:rPr>
              <a:t>with inventory movements and the customer balance?</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do not apply twice. Corroboration: verify the overall result (integrity).</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STRATEGY</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Data corroboration in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Event delivery never guarantees that systems remain consistent with each other.</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Repair without losing the audit trail; replay without reapplying effects twice.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Frequent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Result counts.</a:t>
            </a:r>
            <a:endParaRPr lang="fr-CA" sz="1600" dirty="0"/>
          </a:p>
          <a:p>
            <a:r>
              <a:rPr lang="fr-CA" sz="1600" dirty="0">
                <a:solidFill>
                  <a:srgbClr val="486581"/>
                </a:solidFill>
                <a:latin typeface="Calibri" pitchFamily="34" charset="0"/>
                <a:ea typeface="Calibri" pitchFamily="34" charset="-122"/>
                <a:cs typeface="Calibri" pitchFamily="34" charset="-120"/>
              </a:rPr>
              <a:t>Checksums.</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Periodic</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State snapshots.</a:t>
            </a:r>
            <a:endParaRPr lang="fr-CA" sz="1600" dirty="0"/>
          </a:p>
          <a:p>
            <a:r>
              <a:rPr lang="fr-CA" sz="1600" dirty="0">
                <a:solidFill>
                  <a:srgbClr val="486581"/>
                </a:solidFill>
                <a:latin typeface="Calibri" pitchFamily="34" charset="0"/>
                <a:ea typeface="Calibri" pitchFamily="34" charset="-122"/>
                <a:cs typeface="Calibri" pitchFamily="34" charset="-120"/>
              </a:rPr>
              <a:t>Business invariants.</a:t>
            </a:r>
            <a:endParaRPr lang="fr-CA" sz="1600" dirty="0"/>
          </a:p>
          <a:p>
            <a:r>
              <a:rPr lang="fr-CA" sz="1600" dirty="0">
                <a:solidFill>
                  <a:srgbClr val="486581"/>
                </a:solidFill>
                <a:latin typeface="Calibri" pitchFamily="34" charset="0"/>
                <a:ea typeface="Calibri" pitchFamily="34" charset="-122"/>
                <a:cs typeface="Calibri" pitchFamily="34" charset="-120"/>
              </a:rPr>
              <a:t>Expected/actual comparison.</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Deep-dive</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Reconciliation replay.</a:t>
            </a:r>
            <a:endParaRPr lang="fr-CA" sz="1600" dirty="0"/>
          </a:p>
          <a:p>
            <a:r>
              <a:rPr lang="fr-CA" sz="1600" dirty="0">
                <a:solidFill>
                  <a:srgbClr val="486581"/>
                </a:solidFill>
                <a:latin typeface="Calibri" pitchFamily="34" charset="0"/>
                <a:ea typeface="Calibri" pitchFamily="34" charset="-122"/>
                <a:cs typeface="Calibri" pitchFamily="34" charset="-120"/>
              </a:rPr>
              <a:t>Ghost consumer.</a:t>
            </a:r>
            <a:endParaRPr lang="fr-CA" sz="1600" dirty="0"/>
          </a:p>
          <a:p>
            <a:r>
              <a:rPr lang="fr-CA" sz="1600" dirty="0">
                <a:solidFill>
                  <a:srgbClr val="486581"/>
                </a:solidFill>
                <a:latin typeface="Calibri" pitchFamily="34" charset="0"/>
                <a:ea typeface="Calibri" pitchFamily="34" charset="-122"/>
                <a:cs typeface="Calibri" pitchFamily="34" charset="-120"/>
              </a:rPr>
              <a:t>Gap audit.</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Detect</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Locate</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Repair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(Log)</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 sequence</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They are not three rungs on a maturity ladder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documentation compares complementary integration styles that place complexity in different locations.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(batch)</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(synchronous)</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Scheduled tasks.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Request-response.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and consumption.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Sought value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Bulk movements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preparation.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Immediate result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for the requester.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Independent consumers, buffer, and replay.</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Complexity to master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Schedules, lineage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quality.</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Availability, calls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Ordering, duplicates,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eventual consistency.</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 right question: which mechanism meets the need with manageable complexity?</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Justify EDA by its value, not by the platform choice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 options over the same horizon and make assumptions, costs, and benefits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the full cost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Platform and environments.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Engineering and operations.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Accuracy, testing, and reconciliation.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Governance and security.</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measurable benefits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Faster reaction.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Event reuse.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Independent evolution.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Replay, audit, and restoration.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needs + options + guarantees + TCO/ROI + owners + review criteria.</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FROM LAB TO OPERATIONS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sandbox makes limits visible; it does not erase them</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Ease of local execution and production architecture guarantees are two distinct objectives.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For local learning</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Toward a production target</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Embedded engines and database.</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External services, shared state, and explicit durability.</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In-JVM Flink bridge and temporary storage.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Target runtime, connectors, and validated restore.</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Educational options and dashboards.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Security, contracts, monitoring, and operable procedures.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Intentional concurrency anomalies.</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Protected invariants and tested failure scenarios.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Every guarantee must be tied to a scope, an assumption, and a proof.</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HANDS-ON PRACTICE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WORKSHOP PROPOSAL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Four experiments to connect concepts to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Prepare a comparable starting state, change only one variable, and explain what is observed.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 without key</a:t>
            </a:r>
            <a:endParaRPr lang="fr-CA" sz="2000" noProof="0" dirty="0"/>
          </a:p>
        </p:txBody>
      </p:sp>
      <p:sp>
        <p:nvSpPr>
          <p:cNvPr id="12" name="Text 10"/>
          <p:cNvSpPr/>
          <p:nvPr>
            <p:custDataLst>
              <p:tags r:id="rId11"/>
            </p:custDataLst>
          </p:nvPr>
        </p:nvSpPr>
        <p:spPr>
          <a:xfrm>
            <a:off x="1079257" y="2497311"/>
            <a:ext cx="4070812" cy="355287"/>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Does ordering by product change inventory?</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 → formulate a hypothesis → modify one variable → explain the result (perform manual corroboration).</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Demo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63408"/>
            <a:ext cx="4081082" cy="408893"/>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Kafka pause vs Flink pause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64883"/>
            <a:ext cx="4070812" cy="411479"/>
          </a:xfrm>
          <a:prstGeom prst="rect">
            <a:avLst/>
          </a:prstGeom>
          <a:noFill/>
          <a:ln/>
        </p:spPr>
        <p:txBody>
          <a:bodyPr wrap="square" lIns="0" tIns="0" rIns="0" bIns="0" rtlCol="0" anchor="t">
            <a:normAutofit/>
          </a:bodyPr>
          <a:lstStyle/>
          <a:p>
            <a:r>
              <a:rPr lang="en-US" sz="1650" dirty="0">
                <a:solidFill>
                  <a:srgbClr val="486581"/>
                </a:solidFill>
                <a:latin typeface="Calibri" pitchFamily="34" charset="0"/>
                <a:ea typeface="Calibri" pitchFamily="34" charset="-122"/>
                <a:cs typeface="Calibri" pitchFamily="34" charset="-120"/>
              </a:rPr>
              <a:t>What does each recovery mechanism preserve</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77737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verification</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36799"/>
            <a:ext cx="4060542" cy="370928"/>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Do the requests explain the final inventory?</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KEY TAKEAWAYS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resilient EDA is built end to end</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value of the project is to make visible the responsibilities that transport alone does not handle.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Delivering a message, applying an effect, and proving the result</a:t>
            </a:r>
          </a:p>
          <a:p>
            <a:pPr marL="0" indent="0" algn="ctr">
              <a:buNone/>
            </a:pPr>
            <a:r>
              <a:rPr lang="fr-CA" sz="2400" b="1" noProof="0" dirty="0">
                <a:solidFill>
                  <a:srgbClr val="FFFFFF"/>
                </a:solidFill>
                <a:latin typeface="Calibri" pitchFamily="34" charset="0"/>
                <a:ea typeface="Calibri" pitchFamily="34" charset="-122"/>
                <a:cs typeface="Calibri" pitchFamily="34" charset="-120"/>
              </a:rPr>
              <a:t>are three distinct responsibilities.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Order by entity</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fontScale="92500"/>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Define atomicity boundaries</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Tolerate duplicates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Prepare recovery</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Verify the data</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Justify complexity</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what guarantee are you claiming, and how would you demonstrate it?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FOUNDATIONS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Find the journey chapters in the project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Paths are relative to doc/. Each slide also has detailed sources in the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Project presentation</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README.md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and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architecture_and_topic_design.md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and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database.md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Report comparison</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Delivery and reliability</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reliability_and_delivery_semantics.md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Acknowledgement and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consumer_acknowledgement_and_idempotency.md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Persistence and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persistence_and_transaction_patterns.md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Embedded Kafka, Flink, and Hazelcast</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sandbox_guides.md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DEEP DIVES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Continue from technical resilience to trust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progression links execution mechanisms, operations, governance, and architecture choice.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Sandbox Flink path</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flink_guides.md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Flink / Spring Boot integration</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Lifecycle and operations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lifecycle_and_operations.md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and shutdown</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dist_scale_and_shutdown.md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EKS elasticity</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horizontal_elasticity_keda_karpenter.md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Governance and observability</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governance_and_observability.md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data_corroboration.md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ETL / SOA / EDA choices and TCO/ROI</a:t>
            </a:r>
            <a:endParaRPr lang="en-US" sz="1630" dirty="0"/>
          </a:p>
        </p:txBody>
      </p:sp>
      <p:sp>
        <p:nvSpPr>
          <p:cNvPr id="35" name="Text 33"/>
          <p:cNvSpPr/>
          <p:nvPr>
            <p:custDataLst>
              <p:tags r:id="rId34"/>
            </p:custDataLst>
          </p:nvPr>
        </p:nvSpPr>
        <p:spPr>
          <a:xfrm>
            <a:off x="1033272" y="531783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BEDDD866-5C41-9C16-BDF4-C43EAD56D8BA}"/>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4BF9371E-6C4F-D852-52CE-6D423651E5EA}"/>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
        <p:nvSpPr>
          <p:cNvPr id="38" name="Shape 28">
            <a:extLst>
              <a:ext uri="{FF2B5EF4-FFF2-40B4-BE49-F238E27FC236}">
                <a16:creationId xmlns:a16="http://schemas.microsoft.com/office/drawing/2014/main" id="{13C04AD8-9457-B2B2-7903-0765A30936E8}"/>
              </a:ext>
            </a:extLst>
          </p:cNvPr>
          <p:cNvSpPr/>
          <p:nvPr>
            <p:custDataLst>
              <p:tags r:id="rId37"/>
            </p:custDataLst>
          </p:nvPr>
        </p:nvSpPr>
        <p:spPr>
          <a:xfrm>
            <a:off x="6291072" y="5069086"/>
            <a:ext cx="329184" cy="0"/>
          </a:xfrm>
          <a:prstGeom prst="line">
            <a:avLst/>
          </a:prstGeom>
          <a:noFill/>
          <a:ln w="24130">
            <a:solidFill>
              <a:srgbClr val="1F6FEB"/>
            </a:solidFill>
            <a:prstDash val="solid"/>
          </a:ln>
        </p:spPr>
        <p:txBody>
          <a:bodyPr/>
          <a:lstStyle/>
          <a:p>
            <a:endParaRPr lang="en-CA"/>
          </a:p>
        </p:txBody>
      </p:sp>
      <p:sp>
        <p:nvSpPr>
          <p:cNvPr id="41" name="Text 29">
            <a:extLst>
              <a:ext uri="{FF2B5EF4-FFF2-40B4-BE49-F238E27FC236}">
                <a16:creationId xmlns:a16="http://schemas.microsoft.com/office/drawing/2014/main" id="{B77AC82B-299C-D2F6-0A58-2C43A5640A1C}"/>
              </a:ext>
            </a:extLst>
          </p:cNvPr>
          <p:cNvSpPr/>
          <p:nvPr>
            <p:custDataLst>
              <p:tags r:id="rId38"/>
            </p:custDataLst>
          </p:nvPr>
        </p:nvSpPr>
        <p:spPr>
          <a:xfrm>
            <a:off x="6775704" y="497307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Inbox and Outbox Design Patterns</a:t>
            </a:r>
            <a:endParaRPr lang="en-US" sz="1630" dirty="0"/>
          </a:p>
        </p:txBody>
      </p:sp>
      <p:sp>
        <p:nvSpPr>
          <p:cNvPr id="43" name="Text 30">
            <a:extLst>
              <a:ext uri="{FF2B5EF4-FFF2-40B4-BE49-F238E27FC236}">
                <a16:creationId xmlns:a16="http://schemas.microsoft.com/office/drawing/2014/main" id="{0DDBB869-0D63-752A-902E-6536D4F0F114}"/>
              </a:ext>
            </a:extLst>
          </p:cNvPr>
          <p:cNvSpPr/>
          <p:nvPr>
            <p:custDataLst>
              <p:tags r:id="rId39"/>
            </p:custDataLst>
          </p:nvPr>
        </p:nvSpPr>
        <p:spPr>
          <a:xfrm>
            <a:off x="6775704" y="5293114"/>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Inbox_outbox_patterns.md</a:t>
            </a:r>
            <a:endParaRPr lang="en-US" sz="10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Read JRN_EVENT without confusing its responsibilities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journal distinguishes a processing identity, correlation, nature, and outcome.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Field</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it answers</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consumer processed which event?</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publication does it belong to?</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First delivery or deliberate replay?</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or ERROR?</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What content and processing chronology?</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Primary key. Is this the surrogate key?</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Local dependencies to replace in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D</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EXTERNAL DEPENDENCIES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Sandbox limitations</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E</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CHOICES AND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 Some choices were made to facilitate learning and/or implementation.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Replay is very simplistic and intended for demonstration, not a real implementation. To be refined for PROD.</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RDBMS Model</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model is intentionally simplistic. Customer: customer, account, balance, trx. Inventory: category, model,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Only the Kafka Sandbox is production quality. Flink is a base, and Hazelcast requires refactoring: Datagrid Sandbox.</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Exploratory in-JVM implementation to avoid having to redo the implementation in Spring 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Token / EVT</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To facilitate implementation of the “replay”. The token does not contain the “version” field.</a:t>
            </a:r>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The pause feature assumes a single process. The implementation must be refined for PROD.</a:t>
            </a:r>
            <a:endParaRPr lang="fr-CA" sz="1600" noProof="0" dirty="0"/>
          </a:p>
        </p:txBody>
      </p:sp>
      <p:sp>
        <p:nvSpPr>
          <p:cNvPr id="5" name="Shape 23">
            <a:extLst>
              <a:ext uri="{FF2B5EF4-FFF2-40B4-BE49-F238E27FC236}">
                <a16:creationId xmlns:a16="http://schemas.microsoft.com/office/drawing/2014/main" id="{D3E2D642-9DBD-F5CB-3C96-3AB2716936F1}"/>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96DDC331-C047-C86D-B1BE-9459BB121B47}"/>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Security</a:t>
            </a:r>
            <a:endParaRPr lang="fr-CA" sz="1600" noProof="0" dirty="0"/>
          </a:p>
        </p:txBody>
      </p:sp>
      <p:sp>
        <p:nvSpPr>
          <p:cNvPr id="18" name="Shape 25">
            <a:extLst>
              <a:ext uri="{FF2B5EF4-FFF2-40B4-BE49-F238E27FC236}">
                <a16:creationId xmlns:a16="http://schemas.microsoft.com/office/drawing/2014/main" id="{C6ECB5ED-BE1F-2199-3CEB-164FD6DFE62B}"/>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F0AFA03D-D7ED-13A9-F6E6-CF36436BFC16}"/>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en-US" sz="1600" dirty="0">
                <a:solidFill>
                  <a:srgbClr val="486581"/>
                </a:solidFill>
                <a:latin typeface="Calibri" pitchFamily="34" charset="0"/>
                <a:ea typeface="Calibri" pitchFamily="34" charset="-122"/>
                <a:cs typeface="Calibri" pitchFamily="34" charset="-120"/>
              </a:rPr>
              <a:t>The security is intentionally simplistic, with hard-coded values. The JWT token is stored in the browser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29"/>
</p:tagLst>
</file>

<file path=ppt/tags/tag1197.xml><?xml version="1.0" encoding="utf-8"?>
<p:tagLst xmlns:a="http://schemas.openxmlformats.org/drawingml/2006/main" xmlns:r="http://schemas.openxmlformats.org/officeDocument/2006/relationships" xmlns:p="http://schemas.openxmlformats.org/presentationml/2006/main">
  <p:tag name="NUM" val="30"/>
</p:tagLst>
</file>

<file path=ppt/tags/tag1198.xml><?xml version="1.0" encoding="utf-8"?>
<p:tagLst xmlns:a="http://schemas.openxmlformats.org/drawingml/2006/main" xmlns:r="http://schemas.openxmlformats.org/officeDocument/2006/relationships" xmlns:p="http://schemas.openxmlformats.org/presentationml/2006/main">
  <p:tag name="NUM" val="31"/>
</p:tagLst>
</file>

<file path=ppt/tags/tag1199.xml><?xml version="1.0" encoding="utf-8"?>
<p:tagLst xmlns:a="http://schemas.openxmlformats.org/drawingml/2006/main" xmlns:r="http://schemas.openxmlformats.org/officeDocument/2006/relationships" xmlns:p="http://schemas.openxmlformats.org/presentationml/2006/main">
  <p:tag name="NUM" val="1"/>
</p:tagLst>
</file>

<file path=ppt/tags/tag1200.xml><?xml version="1.0" encoding="utf-8"?>
<p:tagLst xmlns:a="http://schemas.openxmlformats.org/drawingml/2006/main" xmlns:r="http://schemas.openxmlformats.org/officeDocument/2006/relationships" xmlns:p="http://schemas.openxmlformats.org/presentationml/2006/main">
  <p:tag name="NUM" val="2"/>
</p:tagLst>
</file>

<file path=ppt/tags/tag1201.xml><?xml version="1.0" encoding="utf-8"?>
<p:tagLst xmlns:a="http://schemas.openxmlformats.org/drawingml/2006/main" xmlns:r="http://schemas.openxmlformats.org/officeDocument/2006/relationships" xmlns:p="http://schemas.openxmlformats.org/presentationml/2006/main">
  <p:tag name="NUM" val="3"/>
</p:tagLst>
</file>

<file path=ppt/tags/tag1202.xml><?xml version="1.0" encoding="utf-8"?>
<p:tagLst xmlns:a="http://schemas.openxmlformats.org/drawingml/2006/main" xmlns:r="http://schemas.openxmlformats.org/officeDocument/2006/relationships" xmlns:p="http://schemas.openxmlformats.org/presentationml/2006/main">
  <p:tag name="NUM" val="4"/>
</p:tagLst>
</file>

<file path=ppt/tags/tag1203.xml><?xml version="1.0" encoding="utf-8"?>
<p:tagLst xmlns:a="http://schemas.openxmlformats.org/drawingml/2006/main" xmlns:r="http://schemas.openxmlformats.org/officeDocument/2006/relationships" xmlns:p="http://schemas.openxmlformats.org/presentationml/2006/main">
  <p:tag name="NUM" val="5"/>
</p:tagLst>
</file>

<file path=ppt/tags/tag1204.xml><?xml version="1.0" encoding="utf-8"?>
<p:tagLst xmlns:a="http://schemas.openxmlformats.org/drawingml/2006/main" xmlns:r="http://schemas.openxmlformats.org/officeDocument/2006/relationships" xmlns:p="http://schemas.openxmlformats.org/presentationml/2006/main">
  <p:tag name="NUM" val="6"/>
</p:tagLst>
</file>

<file path=ppt/tags/tag1205.xml><?xml version="1.0" encoding="utf-8"?>
<p:tagLst xmlns:a="http://schemas.openxmlformats.org/drawingml/2006/main" xmlns:r="http://schemas.openxmlformats.org/officeDocument/2006/relationships" xmlns:p="http://schemas.openxmlformats.org/presentationml/2006/main">
  <p:tag name="NUM" val="7"/>
</p:tagLst>
</file>

<file path=ppt/tags/tag1206.xml><?xml version="1.0" encoding="utf-8"?>
<p:tagLst xmlns:a="http://schemas.openxmlformats.org/drawingml/2006/main" xmlns:r="http://schemas.openxmlformats.org/officeDocument/2006/relationships" xmlns:p="http://schemas.openxmlformats.org/presentationml/2006/main">
  <p:tag name="NUM" val="8"/>
</p:tagLst>
</file>

<file path=ppt/tags/tag1207.xml><?xml version="1.0" encoding="utf-8"?>
<p:tagLst xmlns:a="http://schemas.openxmlformats.org/drawingml/2006/main" xmlns:r="http://schemas.openxmlformats.org/officeDocument/2006/relationships" xmlns:p="http://schemas.openxmlformats.org/presentationml/2006/main">
  <p:tag name="NUM" val="9"/>
</p:tagLst>
</file>

<file path=ppt/tags/tag1208.xml><?xml version="1.0" encoding="utf-8"?>
<p:tagLst xmlns:a="http://schemas.openxmlformats.org/drawingml/2006/main" xmlns:r="http://schemas.openxmlformats.org/officeDocument/2006/relationships" xmlns:p="http://schemas.openxmlformats.org/presentationml/2006/main">
  <p:tag name="NUM" val="10"/>
</p:tagLst>
</file>

<file path=ppt/tags/tag1209.xml><?xml version="1.0" encoding="utf-8"?>
<p:tagLst xmlns:a="http://schemas.openxmlformats.org/drawingml/2006/main" xmlns:r="http://schemas.openxmlformats.org/officeDocument/2006/relationships" xmlns:p="http://schemas.openxmlformats.org/presentationml/2006/main">
  <p:tag name="NUM" val="11"/>
</p:tagLst>
</file>

<file path=ppt/tags/tag1210.xml><?xml version="1.0" encoding="utf-8"?>
<p:tagLst xmlns:a="http://schemas.openxmlformats.org/drawingml/2006/main" xmlns:r="http://schemas.openxmlformats.org/officeDocument/2006/relationships" xmlns:p="http://schemas.openxmlformats.org/presentationml/2006/main">
  <p:tag name="NUM" val="12"/>
</p:tagLst>
</file>

<file path=ppt/tags/tag1211.xml><?xml version="1.0" encoding="utf-8"?>
<p:tagLst xmlns:a="http://schemas.openxmlformats.org/drawingml/2006/main" xmlns:r="http://schemas.openxmlformats.org/officeDocument/2006/relationships" xmlns:p="http://schemas.openxmlformats.org/presentationml/2006/main">
  <p:tag name="NUM" val="13"/>
</p:tagLst>
</file>

<file path=ppt/tags/tag1212.xml><?xml version="1.0" encoding="utf-8"?>
<p:tagLst xmlns:a="http://schemas.openxmlformats.org/drawingml/2006/main" xmlns:r="http://schemas.openxmlformats.org/officeDocument/2006/relationships" xmlns:p="http://schemas.openxmlformats.org/presentationml/2006/main">
  <p:tag name="NUM" val="14"/>
</p:tagLst>
</file>

<file path=ppt/tags/tag1213.xml><?xml version="1.0" encoding="utf-8"?>
<p:tagLst xmlns:a="http://schemas.openxmlformats.org/drawingml/2006/main" xmlns:r="http://schemas.openxmlformats.org/officeDocument/2006/relationships" xmlns:p="http://schemas.openxmlformats.org/presentationml/2006/main">
  <p:tag name="NUM" val="15"/>
</p:tagLst>
</file>

<file path=ppt/tags/tag1214.xml><?xml version="1.0" encoding="utf-8"?>
<p:tagLst xmlns:a="http://schemas.openxmlformats.org/drawingml/2006/main" xmlns:r="http://schemas.openxmlformats.org/officeDocument/2006/relationships" xmlns:p="http://schemas.openxmlformats.org/presentationml/2006/main">
  <p:tag name="NUM" val="16"/>
</p:tagLst>
</file>

<file path=ppt/tags/tag1215.xml><?xml version="1.0" encoding="utf-8"?>
<p:tagLst xmlns:a="http://schemas.openxmlformats.org/drawingml/2006/main" xmlns:r="http://schemas.openxmlformats.org/officeDocument/2006/relationships" xmlns:p="http://schemas.openxmlformats.org/presentationml/2006/main">
  <p:tag name="NUM" val="17"/>
</p:tagLst>
</file>

<file path=ppt/tags/tag1216.xml><?xml version="1.0" encoding="utf-8"?>
<p:tagLst xmlns:a="http://schemas.openxmlformats.org/drawingml/2006/main" xmlns:r="http://schemas.openxmlformats.org/officeDocument/2006/relationships" xmlns:p="http://schemas.openxmlformats.org/presentationml/2006/main">
  <p:tag name="NUM" val="18"/>
</p:tagLst>
</file>

<file path=ppt/tags/tag1217.xml><?xml version="1.0" encoding="utf-8"?>
<p:tagLst xmlns:a="http://schemas.openxmlformats.org/drawingml/2006/main" xmlns:r="http://schemas.openxmlformats.org/officeDocument/2006/relationships" xmlns:p="http://schemas.openxmlformats.org/presentationml/2006/main">
  <p:tag name="NUM" val="19"/>
</p:tagLst>
</file>

<file path=ppt/tags/tag1218.xml><?xml version="1.0" encoding="utf-8"?>
<p:tagLst xmlns:a="http://schemas.openxmlformats.org/drawingml/2006/main" xmlns:r="http://schemas.openxmlformats.org/officeDocument/2006/relationships" xmlns:p="http://schemas.openxmlformats.org/presentationml/2006/main">
  <p:tag name="NUM" val="20"/>
</p:tagLst>
</file>

<file path=ppt/tags/tag1219.xml><?xml version="1.0" encoding="utf-8"?>
<p:tagLst xmlns:a="http://schemas.openxmlformats.org/drawingml/2006/main" xmlns:r="http://schemas.openxmlformats.org/officeDocument/2006/relationships" xmlns:p="http://schemas.openxmlformats.org/presentationml/2006/main">
  <p:tag name="NUM" val="21"/>
</p:tagLst>
</file>

<file path=ppt/tags/tag1220.xml><?xml version="1.0" encoding="utf-8"?>
<p:tagLst xmlns:a="http://schemas.openxmlformats.org/drawingml/2006/main" xmlns:r="http://schemas.openxmlformats.org/officeDocument/2006/relationships" xmlns:p="http://schemas.openxmlformats.org/presentationml/2006/main">
  <p:tag name="NUM" val="22"/>
</p:tagLst>
</file>

<file path=ppt/tags/tag1221.xml><?xml version="1.0" encoding="utf-8"?>
<p:tagLst xmlns:a="http://schemas.openxmlformats.org/drawingml/2006/main" xmlns:r="http://schemas.openxmlformats.org/officeDocument/2006/relationships" xmlns:p="http://schemas.openxmlformats.org/presentationml/2006/main">
  <p:tag name="NUM" val="23"/>
</p:tagLst>
</file>

<file path=ppt/tags/tag1222.xml><?xml version="1.0" encoding="utf-8"?>
<p:tagLst xmlns:a="http://schemas.openxmlformats.org/drawingml/2006/main" xmlns:r="http://schemas.openxmlformats.org/officeDocument/2006/relationships" xmlns:p="http://schemas.openxmlformats.org/presentationml/2006/main">
  <p:tag name="NUM" val="24"/>
</p:tagLst>
</file>

<file path=ppt/tags/tag1223.xml><?xml version="1.0" encoding="utf-8"?>
<p:tagLst xmlns:a="http://schemas.openxmlformats.org/drawingml/2006/main" xmlns:r="http://schemas.openxmlformats.org/officeDocument/2006/relationships" xmlns:p="http://schemas.openxmlformats.org/presentationml/2006/main">
  <p:tag name="NUM" val="25"/>
</p:tagLst>
</file>

<file path=ppt/tags/tag1224.xml><?xml version="1.0" encoding="utf-8"?>
<p:tagLst xmlns:a="http://schemas.openxmlformats.org/drawingml/2006/main" xmlns:r="http://schemas.openxmlformats.org/officeDocument/2006/relationships" xmlns:p="http://schemas.openxmlformats.org/presentationml/2006/main">
  <p:tag name="NUM" val="26"/>
</p:tagLst>
</file>

<file path=ppt/tags/tag1225.xml><?xml version="1.0" encoding="utf-8"?>
<p:tagLst xmlns:a="http://schemas.openxmlformats.org/drawingml/2006/main" xmlns:r="http://schemas.openxmlformats.org/officeDocument/2006/relationships" xmlns:p="http://schemas.openxmlformats.org/presentationml/2006/main">
  <p:tag name="NUM" val="27"/>
</p:tagLst>
</file>

<file path=ppt/tags/tag1226.xml><?xml version="1.0" encoding="utf-8"?>
<p:tagLst xmlns:a="http://schemas.openxmlformats.org/drawingml/2006/main" xmlns:r="http://schemas.openxmlformats.org/officeDocument/2006/relationships" xmlns:p="http://schemas.openxmlformats.org/presentationml/2006/main">
  <p:tag name="NUM" val="28"/>
</p:tagLst>
</file>

<file path=ppt/tags/tag1227.xml><?xml version="1.0" encoding="utf-8"?>
<p:tagLst xmlns:a="http://schemas.openxmlformats.org/drawingml/2006/main" xmlns:r="http://schemas.openxmlformats.org/officeDocument/2006/relationships" xmlns:p="http://schemas.openxmlformats.org/presentationml/2006/main">
  <p:tag name="NUM" val="29"/>
</p:tagLst>
</file>

<file path=ppt/tags/tag1228.xml><?xml version="1.0" encoding="utf-8"?>
<p:tagLst xmlns:a="http://schemas.openxmlformats.org/drawingml/2006/main" xmlns:r="http://schemas.openxmlformats.org/officeDocument/2006/relationships" xmlns:p="http://schemas.openxmlformats.org/presentationml/2006/main">
  <p:tag name="NUM" val="30"/>
</p:tagLst>
</file>

<file path=ppt/tags/tag1229.xml><?xml version="1.0" encoding="utf-8"?>
<p:tagLst xmlns:a="http://schemas.openxmlformats.org/drawingml/2006/main" xmlns:r="http://schemas.openxmlformats.org/officeDocument/2006/relationships" xmlns:p="http://schemas.openxmlformats.org/presentationml/2006/main">
  <p:tag name="NUM" val="31"/>
</p:tagLst>
</file>

<file path=ppt/tags/tag1230.xml><?xml version="1.0" encoding="utf-8"?>
<p:tagLst xmlns:a="http://schemas.openxmlformats.org/drawingml/2006/main" xmlns:r="http://schemas.openxmlformats.org/officeDocument/2006/relationships" xmlns:p="http://schemas.openxmlformats.org/presentationml/2006/main">
  <p:tag name="NUM" val="16"/>
</p:tagLst>
</file>

<file path=ppt/tags/tag1231.xml><?xml version="1.0" encoding="utf-8"?>
<p:tagLst xmlns:a="http://schemas.openxmlformats.org/drawingml/2006/main" xmlns:r="http://schemas.openxmlformats.org/officeDocument/2006/relationships" xmlns:p="http://schemas.openxmlformats.org/presentationml/2006/main">
  <p:tag name="NUM" val="17"/>
</p:tagLst>
</file>

<file path=ppt/tags/tag1232.xml><?xml version="1.0" encoding="utf-8"?>
<p:tagLst xmlns:a="http://schemas.openxmlformats.org/drawingml/2006/main" xmlns:r="http://schemas.openxmlformats.org/officeDocument/2006/relationships" xmlns:p="http://schemas.openxmlformats.org/presentationml/2006/main">
  <p:tag name="NUM" val="18"/>
</p:tagLst>
</file>

<file path=ppt/tags/tag1233.xml><?xml version="1.0" encoding="utf-8"?>
<p:tagLst xmlns:a="http://schemas.openxmlformats.org/drawingml/2006/main" xmlns:r="http://schemas.openxmlformats.org/officeDocument/2006/relationships" xmlns:p="http://schemas.openxmlformats.org/presentationml/2006/main">
  <p:tag name="NUM" val="19"/>
</p:tagLst>
</file>

<file path=ppt/tags/tag1234.xml><?xml version="1.0" encoding="utf-8"?>
<p:tagLst xmlns:a="http://schemas.openxmlformats.org/drawingml/2006/main" xmlns:r="http://schemas.openxmlformats.org/officeDocument/2006/relationships" xmlns:p="http://schemas.openxmlformats.org/presentationml/2006/main">
  <p:tag name="NUM" val="3"/>
</p:tagLst>
</file>

<file path=ppt/tags/tag1235.xml><?xml version="1.0" encoding="utf-8"?>
<p:tagLst xmlns:a="http://schemas.openxmlformats.org/drawingml/2006/main" xmlns:r="http://schemas.openxmlformats.org/officeDocument/2006/relationships" xmlns:p="http://schemas.openxmlformats.org/presentationml/2006/main">
  <p:tag name="NUM" val="6"/>
</p:tagLst>
</file>

<file path=ppt/tags/tag1236.xml><?xml version="1.0" encoding="utf-8"?>
<p:tagLst xmlns:a="http://schemas.openxmlformats.org/drawingml/2006/main" xmlns:r="http://schemas.openxmlformats.org/officeDocument/2006/relationships" xmlns:p="http://schemas.openxmlformats.org/presentationml/2006/main">
  <p:tag name="NUM" val="1"/>
</p:tagLst>
</file>

<file path=ppt/tags/tag1237.xml><?xml version="1.0" encoding="utf-8"?>
<p:tagLst xmlns:a="http://schemas.openxmlformats.org/drawingml/2006/main" xmlns:r="http://schemas.openxmlformats.org/officeDocument/2006/relationships" xmlns:p="http://schemas.openxmlformats.org/presentationml/2006/main">
  <p:tag name="NUM" val="2"/>
</p:tagLst>
</file>

<file path=ppt/tags/tag1238.xml><?xml version="1.0" encoding="utf-8"?>
<p:tagLst xmlns:a="http://schemas.openxmlformats.org/drawingml/2006/main" xmlns:r="http://schemas.openxmlformats.org/officeDocument/2006/relationships" xmlns:p="http://schemas.openxmlformats.org/presentationml/2006/main">
  <p:tag name="NUM" val="3"/>
</p:tagLst>
</file>

<file path=ppt/tags/tag1239.xml><?xml version="1.0" encoding="utf-8"?>
<p:tagLst xmlns:a="http://schemas.openxmlformats.org/drawingml/2006/main" xmlns:r="http://schemas.openxmlformats.org/officeDocument/2006/relationships" xmlns:p="http://schemas.openxmlformats.org/presentationml/2006/main">
  <p:tag name="NUM" val="5"/>
</p:tagLst>
</file>

<file path=ppt/tags/tag1240.xml><?xml version="1.0" encoding="utf-8"?>
<p:tagLst xmlns:a="http://schemas.openxmlformats.org/drawingml/2006/main" xmlns:r="http://schemas.openxmlformats.org/officeDocument/2006/relationships" xmlns:p="http://schemas.openxmlformats.org/presentationml/2006/main">
  <p:tag name="NUM" val="6"/>
</p:tagLst>
</file>

<file path=ppt/tags/tag1241.xml><?xml version="1.0" encoding="utf-8"?>
<p:tagLst xmlns:a="http://schemas.openxmlformats.org/drawingml/2006/main" xmlns:r="http://schemas.openxmlformats.org/officeDocument/2006/relationships" xmlns:p="http://schemas.openxmlformats.org/presentationml/2006/main">
  <p:tag name="NUM" val="7"/>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1"/>
</p:tagLst>
</file>

<file path=ppt/tags/tag1244.xml><?xml version="1.0" encoding="utf-8"?>
<p:tagLst xmlns:a="http://schemas.openxmlformats.org/drawingml/2006/main" xmlns:r="http://schemas.openxmlformats.org/officeDocument/2006/relationships" xmlns:p="http://schemas.openxmlformats.org/presentationml/2006/main">
  <p:tag name="NUM" val="2"/>
</p:tagLst>
</file>

<file path=ppt/tags/tag1245.xml><?xml version="1.0" encoding="utf-8"?>
<p:tagLst xmlns:a="http://schemas.openxmlformats.org/drawingml/2006/main" xmlns:r="http://schemas.openxmlformats.org/officeDocument/2006/relationships" xmlns:p="http://schemas.openxmlformats.org/presentationml/2006/main">
  <p:tag name="NUM" val="3"/>
</p:tagLst>
</file>

<file path=ppt/tags/tag1246.xml><?xml version="1.0" encoding="utf-8"?>
<p:tagLst xmlns:a="http://schemas.openxmlformats.org/drawingml/2006/main" xmlns:r="http://schemas.openxmlformats.org/officeDocument/2006/relationships" xmlns:p="http://schemas.openxmlformats.org/presentationml/2006/main">
  <p:tag name="NUM" val="5"/>
</p:tagLst>
</file>

<file path=ppt/tags/tag1247.xml><?xml version="1.0" encoding="utf-8"?>
<p:tagLst xmlns:a="http://schemas.openxmlformats.org/drawingml/2006/main" xmlns:r="http://schemas.openxmlformats.org/officeDocument/2006/relationships" xmlns:p="http://schemas.openxmlformats.org/presentationml/2006/main">
  <p:tag name="NUM" val="6"/>
</p:tagLst>
</file>

<file path=ppt/tags/tag1248.xml><?xml version="1.0" encoding="utf-8"?>
<p:tagLst xmlns:a="http://schemas.openxmlformats.org/drawingml/2006/main" xmlns:r="http://schemas.openxmlformats.org/officeDocument/2006/relationships" xmlns:p="http://schemas.openxmlformats.org/presentationml/2006/main">
  <p:tag name="NUM" val="7"/>
</p:tagLst>
</file>

<file path=ppt/tags/tag1249.xml><?xml version="1.0" encoding="utf-8"?>
<p:tagLst xmlns:a="http://schemas.openxmlformats.org/drawingml/2006/main" xmlns:r="http://schemas.openxmlformats.org/officeDocument/2006/relationships" xmlns:p="http://schemas.openxmlformats.org/presentationml/2006/main">
  <p:tag name="NUM" val="8"/>
</p:tagLst>
</file>

<file path=ppt/tags/tag1250.xml><?xml version="1.0" encoding="utf-8"?>
<p:tagLst xmlns:a="http://schemas.openxmlformats.org/drawingml/2006/main" xmlns:r="http://schemas.openxmlformats.org/officeDocument/2006/relationships" xmlns:p="http://schemas.openxmlformats.org/presentationml/2006/main">
  <p:tag name="NUM" val="9"/>
</p:tagLst>
</file>

<file path=ppt/tags/tag1251.xml><?xml version="1.0" encoding="utf-8"?>
<p:tagLst xmlns:a="http://schemas.openxmlformats.org/drawingml/2006/main" xmlns:r="http://schemas.openxmlformats.org/officeDocument/2006/relationships" xmlns:p="http://schemas.openxmlformats.org/presentationml/2006/main">
  <p:tag name="NUM" val="10"/>
</p:tagLst>
</file>

<file path=ppt/tags/tag1252.xml><?xml version="1.0" encoding="utf-8"?>
<p:tagLst xmlns:a="http://schemas.openxmlformats.org/drawingml/2006/main" xmlns:r="http://schemas.openxmlformats.org/officeDocument/2006/relationships" xmlns:p="http://schemas.openxmlformats.org/presentationml/2006/main">
  <p:tag name="NUM" val="11"/>
</p:tagLst>
</file>

<file path=ppt/tags/tag1253.xml><?xml version="1.0" encoding="utf-8"?>
<p:tagLst xmlns:a="http://schemas.openxmlformats.org/drawingml/2006/main" xmlns:r="http://schemas.openxmlformats.org/officeDocument/2006/relationships" xmlns:p="http://schemas.openxmlformats.org/presentationml/2006/main">
  <p:tag name="NUM" val="12"/>
</p:tagLst>
</file>

<file path=ppt/tags/tag1254.xml><?xml version="1.0" encoding="utf-8"?>
<p:tagLst xmlns:a="http://schemas.openxmlformats.org/drawingml/2006/main" xmlns:r="http://schemas.openxmlformats.org/officeDocument/2006/relationships" xmlns:p="http://schemas.openxmlformats.org/presentationml/2006/main">
  <p:tag name="NUM" val="13"/>
</p:tagLst>
</file>

<file path=ppt/tags/tag1255.xml><?xml version="1.0" encoding="utf-8"?>
<p:tagLst xmlns:a="http://schemas.openxmlformats.org/drawingml/2006/main" xmlns:r="http://schemas.openxmlformats.org/officeDocument/2006/relationships" xmlns:p="http://schemas.openxmlformats.org/presentationml/2006/main">
  <p:tag name="NUM" val="14"/>
</p:tagLst>
</file>

<file path=ppt/tags/tag1256.xml><?xml version="1.0" encoding="utf-8"?>
<p:tagLst xmlns:a="http://schemas.openxmlformats.org/drawingml/2006/main" xmlns:r="http://schemas.openxmlformats.org/officeDocument/2006/relationships" xmlns:p="http://schemas.openxmlformats.org/presentationml/2006/main">
  <p:tag name="NUM" val="15"/>
</p:tagLst>
</file>

<file path=ppt/tags/tag1257.xml><?xml version="1.0" encoding="utf-8"?>
<p:tagLst xmlns:a="http://schemas.openxmlformats.org/drawingml/2006/main" xmlns:r="http://schemas.openxmlformats.org/officeDocument/2006/relationships" xmlns:p="http://schemas.openxmlformats.org/presentationml/2006/main">
  <p:tag name="NUM" val="16"/>
</p:tagLst>
</file>

<file path=ppt/tags/tag1258.xml><?xml version="1.0" encoding="utf-8"?>
<p:tagLst xmlns:a="http://schemas.openxmlformats.org/drawingml/2006/main" xmlns:r="http://schemas.openxmlformats.org/officeDocument/2006/relationships" xmlns:p="http://schemas.openxmlformats.org/presentationml/2006/main">
  <p:tag name="NUM" val="17"/>
</p:tagLst>
</file>

<file path=ppt/tags/tag1259.xml><?xml version="1.0" encoding="utf-8"?>
<p:tagLst xmlns:a="http://schemas.openxmlformats.org/drawingml/2006/main" xmlns:r="http://schemas.openxmlformats.org/officeDocument/2006/relationships" xmlns:p="http://schemas.openxmlformats.org/presentationml/2006/main">
  <p:tag name="NUM" val="18"/>
</p:tagLst>
</file>

<file path=ppt/tags/tag1260.xml><?xml version="1.0" encoding="utf-8"?>
<p:tagLst xmlns:a="http://schemas.openxmlformats.org/drawingml/2006/main" xmlns:r="http://schemas.openxmlformats.org/officeDocument/2006/relationships" xmlns:p="http://schemas.openxmlformats.org/presentationml/2006/main">
  <p:tag name="NUM" val="19"/>
</p:tagLst>
</file>

<file path=ppt/tags/tag1261.xml><?xml version="1.0" encoding="utf-8"?>
<p:tagLst xmlns:a="http://schemas.openxmlformats.org/drawingml/2006/main" xmlns:r="http://schemas.openxmlformats.org/officeDocument/2006/relationships" xmlns:p="http://schemas.openxmlformats.org/presentationml/2006/main">
  <p:tag name="NUM" val="20"/>
</p:tagLst>
</file>

<file path=ppt/tags/tag1262.xml><?xml version="1.0" encoding="utf-8"?>
<p:tagLst xmlns:a="http://schemas.openxmlformats.org/drawingml/2006/main" xmlns:r="http://schemas.openxmlformats.org/officeDocument/2006/relationships" xmlns:p="http://schemas.openxmlformats.org/presentationml/2006/main">
  <p:tag name="NUM" val="21"/>
</p:tagLst>
</file>

<file path=ppt/tags/tag1263.xml><?xml version="1.0" encoding="utf-8"?>
<p:tagLst xmlns:a="http://schemas.openxmlformats.org/drawingml/2006/main" xmlns:r="http://schemas.openxmlformats.org/officeDocument/2006/relationships" xmlns:p="http://schemas.openxmlformats.org/presentationml/2006/main">
  <p:tag name="NUM" val="22"/>
</p:tagLst>
</file>

<file path=ppt/tags/tag1264.xml><?xml version="1.0" encoding="utf-8"?>
<p:tagLst xmlns:a="http://schemas.openxmlformats.org/drawingml/2006/main" xmlns:r="http://schemas.openxmlformats.org/officeDocument/2006/relationships" xmlns:p="http://schemas.openxmlformats.org/presentationml/2006/main">
  <p:tag name="NUM" val="23"/>
</p:tagLst>
</file>

<file path=ppt/tags/tag1265.xml><?xml version="1.0" encoding="utf-8"?>
<p:tagLst xmlns:a="http://schemas.openxmlformats.org/drawingml/2006/main" xmlns:r="http://schemas.openxmlformats.org/officeDocument/2006/relationships" xmlns:p="http://schemas.openxmlformats.org/presentationml/2006/main">
  <p:tag name="NUM" val="24"/>
</p:tagLst>
</file>

<file path=ppt/tags/tag1266.xml><?xml version="1.0" encoding="utf-8"?>
<p:tagLst xmlns:a="http://schemas.openxmlformats.org/drawingml/2006/main" xmlns:r="http://schemas.openxmlformats.org/officeDocument/2006/relationships" xmlns:p="http://schemas.openxmlformats.org/presentationml/2006/main">
  <p:tag name="NUM" val="25"/>
</p:tagLst>
</file>

<file path=ppt/tags/tag1267.xml><?xml version="1.0" encoding="utf-8"?>
<p:tagLst xmlns:a="http://schemas.openxmlformats.org/drawingml/2006/main" xmlns:r="http://schemas.openxmlformats.org/officeDocument/2006/relationships" xmlns:p="http://schemas.openxmlformats.org/presentationml/2006/main">
  <p:tag name="NUM" val="26"/>
</p:tagLst>
</file>

<file path=ppt/tags/tag1268.xml><?xml version="1.0" encoding="utf-8"?>
<p:tagLst xmlns:a="http://schemas.openxmlformats.org/drawingml/2006/main" xmlns:r="http://schemas.openxmlformats.org/officeDocument/2006/relationships" xmlns:p="http://schemas.openxmlformats.org/presentationml/2006/main">
  <p:tag name="NUM" val="27"/>
</p:tagLst>
</file>

<file path=ppt/tags/tag1269.xml><?xml version="1.0" encoding="utf-8"?>
<p:tagLst xmlns:a="http://schemas.openxmlformats.org/drawingml/2006/main" xmlns:r="http://schemas.openxmlformats.org/officeDocument/2006/relationships" xmlns:p="http://schemas.openxmlformats.org/presentationml/2006/main">
  <p:tag name="NUM" val="28"/>
</p:tagLst>
</file>

<file path=ppt/tags/tag1270.xml><?xml version="1.0" encoding="utf-8"?>
<p:tagLst xmlns:a="http://schemas.openxmlformats.org/drawingml/2006/main" xmlns:r="http://schemas.openxmlformats.org/officeDocument/2006/relationships" xmlns:p="http://schemas.openxmlformats.org/presentationml/2006/main">
  <p:tag name="NUM" val="29"/>
</p:tagLst>
</file>

<file path=ppt/tags/tag1271.xml><?xml version="1.0" encoding="utf-8"?>
<p:tagLst xmlns:a="http://schemas.openxmlformats.org/drawingml/2006/main" xmlns:r="http://schemas.openxmlformats.org/officeDocument/2006/relationships" xmlns:p="http://schemas.openxmlformats.org/presentationml/2006/main">
  <p:tag name="NUM" val="30"/>
</p:tagLst>
</file>

<file path=ppt/tags/tag1272.xml><?xml version="1.0" encoding="utf-8"?>
<p:tagLst xmlns:a="http://schemas.openxmlformats.org/drawingml/2006/main" xmlns:r="http://schemas.openxmlformats.org/officeDocument/2006/relationships" xmlns:p="http://schemas.openxmlformats.org/presentationml/2006/main">
  <p:tag name="NUM" val="31"/>
</p:tagLst>
</file>

<file path=ppt/tags/tag1273.xml><?xml version="1.0" encoding="utf-8"?>
<p:tagLst xmlns:a="http://schemas.openxmlformats.org/drawingml/2006/main" xmlns:r="http://schemas.openxmlformats.org/officeDocument/2006/relationships" xmlns:p="http://schemas.openxmlformats.org/presentationml/2006/main">
  <p:tag name="NUM" val="16"/>
</p:tagLst>
</file>

<file path=ppt/tags/tag1274.xml><?xml version="1.0" encoding="utf-8"?>
<p:tagLst xmlns:a="http://schemas.openxmlformats.org/drawingml/2006/main" xmlns:r="http://schemas.openxmlformats.org/officeDocument/2006/relationships" xmlns:p="http://schemas.openxmlformats.org/presentationml/2006/main">
  <p:tag name="NUM" val="17"/>
</p:tagLst>
</file>

<file path=ppt/tags/tag1275.xml><?xml version="1.0" encoding="utf-8"?>
<p:tagLst xmlns:a="http://schemas.openxmlformats.org/drawingml/2006/main" xmlns:r="http://schemas.openxmlformats.org/officeDocument/2006/relationships" xmlns:p="http://schemas.openxmlformats.org/presentationml/2006/main">
  <p:tag name="NUM" val="18"/>
</p:tagLst>
</file>

<file path=ppt/tags/tag1276.xml><?xml version="1.0" encoding="utf-8"?>
<p:tagLst xmlns:a="http://schemas.openxmlformats.org/drawingml/2006/main" xmlns:r="http://schemas.openxmlformats.org/officeDocument/2006/relationships" xmlns:p="http://schemas.openxmlformats.org/presentationml/2006/main">
  <p:tag name="NUM" val="19"/>
</p:tagLst>
</file>

<file path=ppt/tags/tag1277.xml><?xml version="1.0" encoding="utf-8"?>
<p:tagLst xmlns:a="http://schemas.openxmlformats.org/drawingml/2006/main" xmlns:r="http://schemas.openxmlformats.org/officeDocument/2006/relationships" xmlns:p="http://schemas.openxmlformats.org/presentationml/2006/main">
  <p:tag name="NUM" val="24"/>
</p:tagLst>
</file>

<file path=ppt/tags/tag1278.xml><?xml version="1.0" encoding="utf-8"?>
<p:tagLst xmlns:a="http://schemas.openxmlformats.org/drawingml/2006/main" xmlns:r="http://schemas.openxmlformats.org/officeDocument/2006/relationships" xmlns:p="http://schemas.openxmlformats.org/presentationml/2006/main">
  <p:tag name="NUM" val="25"/>
</p:tagLst>
</file>

<file path=ppt/tags/tag1279.xml><?xml version="1.0" encoding="utf-8"?>
<p:tagLst xmlns:a="http://schemas.openxmlformats.org/drawingml/2006/main" xmlns:r="http://schemas.openxmlformats.org/officeDocument/2006/relationships" xmlns:p="http://schemas.openxmlformats.org/presentationml/2006/main">
  <p:tag name="NUM" val="26"/>
</p:tagLst>
</file>

<file path=ppt/tags/tag1280.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1857</TotalTime>
  <Words>8728</Words>
  <Application>Microsoft Office PowerPoint</Application>
  <PresentationFormat>Grand écran</PresentationFormat>
  <Paragraphs>1354</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324</cp:revision>
  <dcterms:created xsi:type="dcterms:W3CDTF">2026-09-18T17:38:25Z</dcterms:created>
  <dcterms:modified xsi:type="dcterms:W3CDTF">2026-10-09T14:36:21Z</dcterms:modified>
</cp:coreProperties>
</file>